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558"/>
                </a:solidFill>
              </a:defRPr>
            </a:pPr>
            <a:r>
              <a:t>Residential Energy Audience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Internal audience guidance for the June 18, 2026 program-specific regional paid-social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3383280"/>
          </a:xfrm>
          <a:prstGeom prst="roundRect">
            <a:avLst/>
          </a:prstGeom>
          <a:solidFill>
            <a:srgbClr val="1F66FF"/>
          </a:solidFill>
          <a:ln>
            <a:solidFill>
              <a:srgbClr val="1F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Use after calculation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First identify the campaign-addressable product and its leading reporting region from the sales sources. The deck does not choose the product or region.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29000" cy="338328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Choose one audience row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Within the matching reporting region, use the current owner-occupied rooftop-storage segment with the strongest paid-social verification 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29000" cy="338328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Resolve copy elsewhere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This deck selects message emphasis and proof roles. Exact customer-facing wording still comes from the current claims register 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77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558"/>
                </a:solidFill>
              </a:defRPr>
            </a:pPr>
            <a:r>
              <a:t>Regional segment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774"/>
                </a:solidFill>
              </a:defRPr>
            </a:pPr>
            <a:r>
              <a:t>The sales-derived reporting region determines which audience row is eligible.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01168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West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Rooftop-solar self-use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17320"/>
            <a:ext cx="384048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Message emphasis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After-sunset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448056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Priority proof roles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Home fit + app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011680" cy="914400"/>
          </a:xfrm>
          <a:prstGeom prst="roundRect">
            <a:avLst/>
          </a:prstGeom>
          <a:solidFill>
            <a:srgbClr val="1F66FF"/>
          </a:solidFill>
          <a:ln>
            <a:solidFill>
              <a:srgbClr val="1F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Northeast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Owner rooftop reliability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560320"/>
            <a:ext cx="384048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Message emphasis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Selected essential-load continuity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560320"/>
            <a:ext cx="448056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Priority proof roles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Essential-load configuration + app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201168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 wrap="square"/>
          <a:lstStyle/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Central</a:t>
            </a:r>
          </a:p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Solar-conversion + flexible-load households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703320"/>
            <a:ext cx="384048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 wrap="square"/>
          <a:lstStyle/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Message emphasis</a:t>
            </a:r>
          </a:p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Everyday solar conversion during utility event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703320"/>
            <a:ext cx="448056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 wrap="square"/>
          <a:lstStyle/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Priority proof roles</a:t>
            </a:r>
          </a:p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Conversion profile + event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201168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Southeast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Calm service continuity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846320"/>
            <a:ext cx="384048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Message emphasis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Short interruption readiness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846320"/>
            <a:ext cx="4480560" cy="914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Priority proof roles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Serviceability + status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77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558"/>
                </a:solidFill>
              </a:defRPr>
            </a:pPr>
            <a:r>
              <a:t>West: Rooftop-solar self-use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774"/>
                </a:solidFill>
              </a:defRPr>
            </a:pPr>
            <a:r>
              <a:t>Use only when the selected product's leading reporting region is West.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Audience insight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Owner-occupied rooftop-solar households want to use more of their daytime generation after sunset.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Message emphasis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Lead with after-sunset solar use. Priority proof roles are quiet home fit and practical app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Boundary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Do not turn energy independence into a no-grid guarantee. Do not use the West row for another reporting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7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558"/>
                </a:solidFill>
              </a:defRPr>
            </a:pPr>
            <a:r>
              <a:t>Northeast: Owner rooftop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774"/>
                </a:solidFill>
              </a:defRPr>
            </a:pPr>
            <a:r>
              <a:t>Use only when the selected product's leading reporting region is Northeast and the rollout wave is NE-R2.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3474720" cy="4343400"/>
          </a:xfrm>
          <a:prstGeom prst="roundRect">
            <a:avLst/>
          </a:prstGeom>
          <a:solidFill>
            <a:srgbClr val="1F66FF"/>
          </a:solidFill>
          <a:ln>
            <a:solidFill>
              <a:srgbClr val="1F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Audience definition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Owner-occupied rooftop-solar households in currently open Northeast pilot states. Renters, multifamily properties, builder inventory, and non-serviceable states are outside this audience.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474720" cy="4343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Message emphasis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Lead with using stored solar to support selected home essentials when grid power is interrupted. Keep the tone calm and practical, not disaster-led.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325880"/>
            <a:ext cx="3474720" cy="434340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Two priority proof roles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1. Essential-load configuration: installer-configured support focused on selected circuits or household loads.</a:t>
            </a:r>
            <a:br/>
            <a:br/>
            <a:r>
              <a:t>2. App status: visibility into when stored energy is supporting selected 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7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Central: Solar-conversion + flexible-load households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1414"/>
                </a:solidFill>
              </a:defRPr>
            </a:pPr>
            <a:r>
              <a:rPr sz="1400" b="0">
                <a:solidFill>
                  <a:srgbClr val="141414"/>
                </a:solidFill>
              </a:rPr>
              <a:t>Use only for product program code CONVERT, leading region Central, and rollout C-C2.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 wrap="square"/>
          <a:lstStyle/>
          <a:p>
            <a:pPr>
              <a:defRPr sz="1300" b="0">
                <a:solidFill>
                  <a:srgbClr val="17365D"/>
                </a:solidFill>
              </a:defRPr>
            </a:pPr>
            <a:r>
              <a:rPr sz="1300" b="0">
                <a:solidFill>
                  <a:srgbClr val="17365D"/>
                </a:solidFill>
              </a:rPr>
              <a:t>Audience definition</a:t>
            </a:r>
          </a:p>
          <a:p>
            <a:pPr>
              <a:defRPr sz="1300" b="0">
                <a:solidFill>
                  <a:srgbClr val="17365D"/>
                </a:solidFill>
              </a:defRPr>
            </a:pPr>
            <a:r>
              <a:rPr sz="1300" b="0">
                <a:solidFill>
                  <a:srgbClr val="17365D"/>
                </a:solidFill>
              </a:rPr>
              <a:t>Owner-occupied Central rooftop-solar households in participating utility territories, with a compatible inverter pathway and at least one qualifying Level 2 EV charger or heat pump.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 wrap="square"/>
          <a:lstStyle/>
          <a:p>
            <a:pPr>
              <a:defRPr sz="1300" b="0">
                <a:solidFill>
                  <a:srgbClr val="17365D"/>
                </a:solidFill>
              </a:defRPr>
            </a:pPr>
            <a:r>
              <a:rPr sz="1300" b="0">
                <a:solidFill>
                  <a:srgbClr val="17365D"/>
                </a:solidFill>
              </a:rPr>
              <a:t>Message emphasis</a:t>
            </a:r>
          </a:p>
          <a:p>
            <a:pPr>
              <a:defRPr sz="1300" b="0">
                <a:solidFill>
                  <a:srgbClr val="17365D"/>
                </a:solidFill>
              </a:defRPr>
            </a:pPr>
            <a:r>
              <a:rPr sz="1300" b="0">
                <a:solidFill>
                  <a:srgbClr val="17365D"/>
                </a:solidFill>
              </a:rPr>
              <a:t>Lead with converting rooftop solar for everyday home use while coordinating compatible flexible loads during participating utility event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 wrap="square"/>
          <a:lstStyle/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Two priority proof roles</a:t>
            </a:r>
          </a:p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1. Conversion profile: installer-set coordination of rooftop-solar input with a compatible Level 2 EV charger or heat pump.</a:t>
            </a:r>
          </a:p>
          <a:p>
            <a:pPr>
              <a:defRPr sz="1100" b="0">
                <a:solidFill>
                  <a:srgbClr val="17365D"/>
                </a:solidFill>
              </a:defRPr>
            </a:pPr>
          </a:p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2. Event status: app visibility into when flexible-load timing is active and when normal schedules resume.</a:t>
            </a:r>
          </a:p>
          <a:p>
            <a:pPr>
              <a:defRPr sz="1100" b="0">
                <a:solidFill>
                  <a:srgbClr val="17365D"/>
                </a:solidFill>
              </a:defRPr>
            </a:pPr>
          </a:p>
          <a:p>
            <a:pPr>
              <a:defRPr sz="1100" b="0">
                <a:solidFill>
                  <a:srgbClr val="17365D"/>
                </a:solidFill>
              </a:defRPr>
            </a:pPr>
            <a:r>
              <a:rPr sz="1100" b="0">
                <a:solidFill>
                  <a:srgbClr val="17365D"/>
                </a:solidFill>
              </a:rPr>
              <a:t>Boundary: no guaranteed savings, universal appliance control, or statewide utility availability.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7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558"/>
                </a:solidFill>
              </a:defRPr>
            </a:pPr>
            <a:r>
              <a:t>Southeast: Calm service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774"/>
                </a:solidFill>
              </a:defRPr>
            </a:pPr>
            <a:r>
              <a:t>Use only when the selected product's leading reporting region is Southeast.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Audience insight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Owner-occupied households familiar with shorter seasonal interruptions and service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Message emphasis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Lead with calm service continuity and practical status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17320"/>
            <a:ext cx="3429000" cy="416052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Boundary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Do not use hurricane imagery, emergency pressure, or guaranteed duration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77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558"/>
                </a:solidFill>
              </a:defRPr>
            </a:pPr>
            <a:r>
              <a:t>Tone and evidence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774"/>
                </a:solidFill>
              </a:defRPr>
            </a:pPr>
            <a:r>
              <a:t>Audience insight narrows emphasis; it never replaces product, claim, or asset approval.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4297680"/>
          </a:xfrm>
          <a:prstGeom prst="roundRect">
            <a:avLst/>
          </a:prstGeom>
          <a:solidFill>
            <a:srgbClr val="1F66FF"/>
          </a:solidFill>
          <a:ln>
            <a:solidFill>
              <a:srgbClr val="1F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Use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One clear benefit, exactly two audience-priority proof roles, calm homeowner language, and qualification/disclosure wording required by the current placement.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429768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Avoid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Fear-heavy disaster framing, whole-home or duration guarantees, unsupported numerical savings, dense acronyms, and generic national messaging.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29000" cy="4297680"/>
          </a:xfrm>
          <a:prstGeom prst="roundRect">
            <a:avLst/>
          </a:prstGeom>
          <a:solidFill>
            <a:srgbClr val="EAF4F8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09728"/>
          <a:lstStyle/>
          <a:p>
            <a:pPr algn="ctr">
              <a:defRPr sz="1500" b="1">
                <a:solidFill>
                  <a:srgbClr val="0B3558"/>
                </a:solidFill>
              </a:defRPr>
            </a:pPr>
            <a:r>
              <a:t>Verify</a:t>
            </a:r>
          </a:p>
          <a:p>
            <a:pPr>
              <a:spcBef>
                <a:spcPts val="500"/>
              </a:spcBef>
              <a:defRPr sz="1200">
                <a:solidFill>
                  <a:srgbClr val="203040"/>
                </a:solidFill>
              </a:defRPr>
            </a:pPr>
            <a:r>
              <a:t>Check product, region, revision, objective, rollout wave, effective date, state-level serviceability, and asset treatment before finalizing the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77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