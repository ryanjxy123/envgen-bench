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48"/>
  </p:notesMasterIdLst>
  <p:sldIdLst>
    <p:sldId id="256" r:id="rId2"/>
    <p:sldId id="286" r:id="rId3"/>
    <p:sldId id="259" r:id="rId4"/>
    <p:sldId id="257" r:id="rId5"/>
    <p:sldId id="297" r:id="rId6"/>
    <p:sldId id="298" r:id="rId7"/>
    <p:sldId id="303" r:id="rId8"/>
    <p:sldId id="258" r:id="rId9"/>
    <p:sldId id="299" r:id="rId10"/>
    <p:sldId id="260" r:id="rId11"/>
    <p:sldId id="300" r:id="rId12"/>
    <p:sldId id="261" r:id="rId13"/>
    <p:sldId id="301" r:id="rId14"/>
    <p:sldId id="262" r:id="rId15"/>
    <p:sldId id="302" r:id="rId16"/>
    <p:sldId id="284" r:id="rId17"/>
    <p:sldId id="263" r:id="rId18"/>
    <p:sldId id="264" r:id="rId19"/>
    <p:sldId id="265" r:id="rId20"/>
    <p:sldId id="266" r:id="rId21"/>
    <p:sldId id="267" r:id="rId22"/>
    <p:sldId id="268" r:id="rId23"/>
    <p:sldId id="285" r:id="rId24"/>
    <p:sldId id="295" r:id="rId25"/>
    <p:sldId id="270" r:id="rId26"/>
    <p:sldId id="269" r:id="rId27"/>
    <p:sldId id="271" r:id="rId28"/>
    <p:sldId id="272" r:id="rId29"/>
    <p:sldId id="274" r:id="rId30"/>
    <p:sldId id="275" r:id="rId31"/>
    <p:sldId id="273" r:id="rId32"/>
    <p:sldId id="276" r:id="rId33"/>
    <p:sldId id="277" r:id="rId34"/>
    <p:sldId id="278" r:id="rId35"/>
    <p:sldId id="279" r:id="rId36"/>
    <p:sldId id="280" r:id="rId37"/>
    <p:sldId id="281" r:id="rId38"/>
    <p:sldId id="282" r:id="rId39"/>
    <p:sldId id="283" r:id="rId40"/>
    <p:sldId id="287" r:id="rId41"/>
    <p:sldId id="288" r:id="rId42"/>
    <p:sldId id="289" r:id="rId43"/>
    <p:sldId id="290" r:id="rId44"/>
    <p:sldId id="291" r:id="rId45"/>
    <p:sldId id="292" r:id="rId46"/>
    <p:sldId id="304" r:id="rId47"/>
  </p:sldIdLst>
  <p:sldSz cx="9144000" cy="6858000" type="screen4x3"/>
  <p:notesSz cx="6858000" cy="9144000"/>
  <p:defaultTextStyle>
    <a:defPPr>
      <a:defRPr lang="en-GB"/>
    </a:defPPr>
    <a:lvl1pPr algn="l" rtl="0" fontAlgn="base">
      <a:spcBef>
        <a:spcPct val="0"/>
      </a:spcBef>
      <a:spcAft>
        <a:spcPct val="0"/>
      </a:spcAft>
      <a:defRPr sz="4800" kern="1200">
        <a:solidFill>
          <a:schemeClr val="tx1"/>
        </a:solidFill>
        <a:latin typeface="Garamond" pitchFamily="18" charset="0"/>
        <a:ea typeface="+mn-ea"/>
        <a:cs typeface="Arial" charset="0"/>
      </a:defRPr>
    </a:lvl1pPr>
    <a:lvl2pPr marL="457200" algn="l" rtl="0" fontAlgn="base">
      <a:spcBef>
        <a:spcPct val="0"/>
      </a:spcBef>
      <a:spcAft>
        <a:spcPct val="0"/>
      </a:spcAft>
      <a:defRPr sz="4800" kern="1200">
        <a:solidFill>
          <a:schemeClr val="tx1"/>
        </a:solidFill>
        <a:latin typeface="Garamond" pitchFamily="18" charset="0"/>
        <a:ea typeface="+mn-ea"/>
        <a:cs typeface="Arial" charset="0"/>
      </a:defRPr>
    </a:lvl2pPr>
    <a:lvl3pPr marL="914400" algn="l" rtl="0" fontAlgn="base">
      <a:spcBef>
        <a:spcPct val="0"/>
      </a:spcBef>
      <a:spcAft>
        <a:spcPct val="0"/>
      </a:spcAft>
      <a:defRPr sz="4800" kern="1200">
        <a:solidFill>
          <a:schemeClr val="tx1"/>
        </a:solidFill>
        <a:latin typeface="Garamond" pitchFamily="18" charset="0"/>
        <a:ea typeface="+mn-ea"/>
        <a:cs typeface="Arial" charset="0"/>
      </a:defRPr>
    </a:lvl3pPr>
    <a:lvl4pPr marL="1371600" algn="l" rtl="0" fontAlgn="base">
      <a:spcBef>
        <a:spcPct val="0"/>
      </a:spcBef>
      <a:spcAft>
        <a:spcPct val="0"/>
      </a:spcAft>
      <a:defRPr sz="4800" kern="1200">
        <a:solidFill>
          <a:schemeClr val="tx1"/>
        </a:solidFill>
        <a:latin typeface="Garamond" pitchFamily="18" charset="0"/>
        <a:ea typeface="+mn-ea"/>
        <a:cs typeface="Arial" charset="0"/>
      </a:defRPr>
    </a:lvl4pPr>
    <a:lvl5pPr marL="1828800" algn="l" rtl="0" fontAlgn="base">
      <a:spcBef>
        <a:spcPct val="0"/>
      </a:spcBef>
      <a:spcAft>
        <a:spcPct val="0"/>
      </a:spcAft>
      <a:defRPr sz="4800" kern="1200">
        <a:solidFill>
          <a:schemeClr val="tx1"/>
        </a:solidFill>
        <a:latin typeface="Garamond" pitchFamily="18" charset="0"/>
        <a:ea typeface="+mn-ea"/>
        <a:cs typeface="Arial" charset="0"/>
      </a:defRPr>
    </a:lvl5pPr>
    <a:lvl6pPr marL="2286000" algn="l" defTabSz="914400" rtl="0" eaLnBrk="1" latinLnBrk="0" hangingPunct="1">
      <a:defRPr sz="4800" kern="1200">
        <a:solidFill>
          <a:schemeClr val="tx1"/>
        </a:solidFill>
        <a:latin typeface="Garamond" pitchFamily="18" charset="0"/>
        <a:ea typeface="+mn-ea"/>
        <a:cs typeface="Arial" charset="0"/>
      </a:defRPr>
    </a:lvl6pPr>
    <a:lvl7pPr marL="2743200" algn="l" defTabSz="914400" rtl="0" eaLnBrk="1" latinLnBrk="0" hangingPunct="1">
      <a:defRPr sz="4800" kern="1200">
        <a:solidFill>
          <a:schemeClr val="tx1"/>
        </a:solidFill>
        <a:latin typeface="Garamond" pitchFamily="18" charset="0"/>
        <a:ea typeface="+mn-ea"/>
        <a:cs typeface="Arial" charset="0"/>
      </a:defRPr>
    </a:lvl7pPr>
    <a:lvl8pPr marL="3200400" algn="l" defTabSz="914400" rtl="0" eaLnBrk="1" latinLnBrk="0" hangingPunct="1">
      <a:defRPr sz="4800" kern="1200">
        <a:solidFill>
          <a:schemeClr val="tx1"/>
        </a:solidFill>
        <a:latin typeface="Garamond" pitchFamily="18" charset="0"/>
        <a:ea typeface="+mn-ea"/>
        <a:cs typeface="Arial" charset="0"/>
      </a:defRPr>
    </a:lvl8pPr>
    <a:lvl9pPr marL="3657600" algn="l" defTabSz="914400" rtl="0" eaLnBrk="1" latinLnBrk="0" hangingPunct="1">
      <a:defRPr sz="4800" kern="1200">
        <a:solidFill>
          <a:schemeClr val="tx1"/>
        </a:solidFill>
        <a:latin typeface="Garamond" pitchFamily="18"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55" autoAdjust="0"/>
    <p:restoredTop sz="94660"/>
  </p:normalViewPr>
  <p:slideViewPr>
    <p:cSldViewPr>
      <p:cViewPr>
        <p:scale>
          <a:sx n="77" d="100"/>
          <a:sy n="77" d="100"/>
        </p:scale>
        <p:origin x="-1158" y="-7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GB"/>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GB"/>
          </a:p>
        </p:txBody>
      </p:sp>
      <p:sp>
        <p:nvSpPr>
          <p:cNvPr id="532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GB"/>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B66C29F7-A845-463E-BC6E-E380B0297D2B}" type="slidenum">
              <a:rPr lang="en-GB"/>
              <a:pPr>
                <a:defRPr/>
              </a:pPr>
              <a:t>‹#›</a:t>
            </a:fld>
            <a:endParaRPr lang="en-GB"/>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713E7599-5AB2-4237-9E11-48196DDBBAD2}" type="slidenum">
              <a:rPr lang="en-GB" smtClean="0"/>
              <a:pPr/>
              <a:t>1</a:t>
            </a:fld>
            <a:endParaRPr lang="en-GB"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FFFD661E-6C37-4396-929D-F39CB9D578F1}" type="slidenum">
              <a:rPr lang="en-GB" smtClean="0"/>
              <a:pPr/>
              <a:t>2</a:t>
            </a:fld>
            <a:endParaRPr lang="en-GB" smtClean="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87162875-D921-49CE-8E52-CFFB3BDFF9AD}" type="slidenum">
              <a:rPr lang="en-GB" smtClean="0"/>
              <a:pPr/>
              <a:t>3</a:t>
            </a:fld>
            <a:endParaRPr lang="en-GB"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F8B35E54-B13D-44C2-8BD2-F14785C34159}" type="slidenum">
              <a:rPr lang="en-GB" smtClean="0"/>
              <a:pPr/>
              <a:t>4</a:t>
            </a:fld>
            <a:endParaRPr lang="en-GB" smtClean="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867B1EDC-1903-41AC-8D5E-594EFF68C308}" type="slidenum">
              <a:rPr lang="en-GB" smtClean="0"/>
              <a:pPr/>
              <a:t>8</a:t>
            </a:fld>
            <a:endParaRPr lang="en-GB"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1E09613C-F1DB-4CDA-85A6-B4794E7C1A33}" type="slidenum">
              <a:rPr lang="en-GB" smtClean="0"/>
              <a:pPr/>
              <a:t>10</a:t>
            </a:fld>
            <a:endParaRPr lang="en-GB" smtClean="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277DA965-A874-4491-B3B8-9F02C8F263BB}" type="slidenum">
              <a:rPr lang="en-GB" smtClean="0"/>
              <a:pPr/>
              <a:t>12</a:t>
            </a:fld>
            <a:endParaRPr lang="en-GB"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D2E7CFA7-BA07-410D-AA65-3B1F7D7B173D}" type="slidenum">
              <a:rPr lang="en-GB" smtClean="0"/>
              <a:pPr/>
              <a:t>14</a:t>
            </a:fld>
            <a:endParaRPr lang="en-GB" smtClean="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28B459C5-1237-4036-9401-4F52A69A9C8F}" type="slidenum">
              <a:rPr lang="en-GB" smtClean="0"/>
              <a:pPr/>
              <a:t>16</a:t>
            </a:fld>
            <a:endParaRPr lang="en-GB"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2545F3CF-4A6B-4A97-94F6-CFA52B03AE03}" type="slidenum">
              <a:rPr lang="en-GB" smtClean="0"/>
              <a:pPr/>
              <a:t>17</a:t>
            </a:fld>
            <a:endParaRPr lang="en-GB" smtClean="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37308EF2-98D7-4EC7-B627-88B7A0B9FEA5}" type="slidenum">
              <a:rPr lang="en-GB" smtClean="0"/>
              <a:pPr/>
              <a:t>18</a:t>
            </a:fld>
            <a:endParaRPr lang="en-GB" smtClean="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644B8935-5F25-4D99-B137-7F10642C9A01}" type="slidenum">
              <a:rPr lang="en-GB" smtClean="0"/>
              <a:pPr/>
              <a:t>19</a:t>
            </a:fld>
            <a:endParaRPr lang="en-GB" smtClean="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E867B802-00BD-4EBE-BB6C-3F8650964274}" type="slidenum">
              <a:rPr lang="en-GB" smtClean="0"/>
              <a:pPr/>
              <a:t>20</a:t>
            </a:fld>
            <a:endParaRPr lang="en-GB" smtClean="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D94821D0-9A95-45FA-AC0D-0E8B5D216F7D}" type="slidenum">
              <a:rPr lang="en-GB" smtClean="0"/>
              <a:pPr/>
              <a:t>21</a:t>
            </a:fld>
            <a:endParaRPr lang="en-GB" smtClean="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CD2E5681-618F-4982-86E2-E88C015701EB}" type="slidenum">
              <a:rPr lang="en-GB" smtClean="0"/>
              <a:pPr/>
              <a:t>22</a:t>
            </a:fld>
            <a:endParaRPr lang="en-GB" smtClean="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DFB08276-5094-40A8-86DE-FD10D634D694}" type="slidenum">
              <a:rPr lang="en-GB" smtClean="0"/>
              <a:pPr/>
              <a:t>23</a:t>
            </a:fld>
            <a:endParaRPr lang="en-GB" smtClean="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299DD2CE-0CFC-493A-BAF1-658DDFED3FC8}" type="slidenum">
              <a:rPr lang="en-GB" smtClean="0"/>
              <a:pPr/>
              <a:t>24</a:t>
            </a:fld>
            <a:endParaRPr lang="en-GB" smtClean="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964F954D-6F90-4EB1-9C05-6EA628977044}" type="slidenum">
              <a:rPr lang="en-GB" smtClean="0"/>
              <a:pPr/>
              <a:t>25</a:t>
            </a:fld>
            <a:endParaRPr lang="en-GB"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9F59F213-0034-4DAA-AEC3-E2A37F7AEC99}" type="slidenum">
              <a:rPr lang="en-GB" smtClean="0"/>
              <a:pPr/>
              <a:t>26</a:t>
            </a:fld>
            <a:endParaRPr lang="en-GB" smtClean="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87A5F9BB-2C72-4E95-87C4-36D7AFA269D1}" type="slidenum">
              <a:rPr lang="en-GB" smtClean="0"/>
              <a:pPr/>
              <a:t>27</a:t>
            </a:fld>
            <a:endParaRPr lang="en-GB" smtClean="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867761E7-ECFC-4B82-9CC5-62A5097C16AA}" type="slidenum">
              <a:rPr lang="en-GB" smtClean="0"/>
              <a:pPr/>
              <a:t>28</a:t>
            </a:fld>
            <a:endParaRPr lang="en-GB" smtClean="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F032BE12-727F-465A-BAC8-A7921BCE54BB}" type="slidenum">
              <a:rPr lang="en-GB" smtClean="0"/>
              <a:pPr/>
              <a:t>29</a:t>
            </a:fld>
            <a:endParaRPr lang="en-GB" smtClean="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3D10DF1D-B39A-410B-BD07-FC6B387951A2}" type="slidenum">
              <a:rPr lang="en-GB" smtClean="0"/>
              <a:pPr/>
              <a:t>30</a:t>
            </a:fld>
            <a:endParaRPr lang="en-GB" smtClean="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1F810685-B0CA-494A-81D0-F3D6691F9E24}" type="slidenum">
              <a:rPr lang="en-GB" smtClean="0"/>
              <a:pPr/>
              <a:t>31</a:t>
            </a:fld>
            <a:endParaRPr lang="en-GB" smtClean="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55E49730-8786-4A6C-9FD5-3982F76D910E}" type="slidenum">
              <a:rPr lang="en-GB" smtClean="0"/>
              <a:pPr/>
              <a:t>32</a:t>
            </a:fld>
            <a:endParaRPr lang="en-GB"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08804DAE-A837-4917-A3E4-B9D6B827AC43}" type="slidenum">
              <a:rPr lang="en-GB" smtClean="0"/>
              <a:pPr/>
              <a:t>33</a:t>
            </a:fld>
            <a:endParaRPr lang="en-GB" smtClean="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D4BF0A29-0500-4140-9C98-FAFC79DEC95B}" type="slidenum">
              <a:rPr lang="en-GB" smtClean="0"/>
              <a:pPr/>
              <a:t>34</a:t>
            </a:fld>
            <a:endParaRPr lang="en-GB" smtClean="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36BC251C-93A7-4B79-8078-86BC7A5CA62D}" type="slidenum">
              <a:rPr lang="en-GB" smtClean="0"/>
              <a:pPr/>
              <a:t>35</a:t>
            </a:fld>
            <a:endParaRPr lang="en-GB" smtClean="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5917A0EA-C413-40CF-A94A-522E96839142}" type="slidenum">
              <a:rPr lang="en-GB" smtClean="0"/>
              <a:pPr/>
              <a:t>36</a:t>
            </a:fld>
            <a:endParaRPr lang="en-GB"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7CB2C7AE-FEB8-48F0-BE89-C10443566E36}" type="slidenum">
              <a:rPr lang="en-GB" smtClean="0"/>
              <a:pPr/>
              <a:t>37</a:t>
            </a:fld>
            <a:endParaRPr lang="en-GB"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3CCA5D9B-95BB-4DB1-AFD8-AA0DB4D37149}" type="slidenum">
              <a:rPr lang="en-GB" smtClean="0"/>
              <a:pPr/>
              <a:t>38</a:t>
            </a:fld>
            <a:endParaRPr lang="en-GB" smtClean="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9696E60D-0C77-4912-8CEB-7C7ADCD72813}" type="slidenum">
              <a:rPr lang="en-GB" smtClean="0"/>
              <a:pPr/>
              <a:t>39</a:t>
            </a:fld>
            <a:endParaRPr lang="en-GB" smtClean="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0168B3AE-774D-41E4-B576-3D8572521265}" type="slidenum">
              <a:rPr lang="en-GB" smtClean="0"/>
              <a:pPr/>
              <a:t>40</a:t>
            </a:fld>
            <a:endParaRPr lang="en-GB"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3CED5421-338B-45CC-B286-46EC95079361}" type="slidenum">
              <a:rPr lang="en-GB" smtClean="0"/>
              <a:pPr/>
              <a:t>41</a:t>
            </a:fld>
            <a:endParaRPr lang="en-GB" smtClean="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004DAB61-F1BE-49F1-95DC-14C1C5410718}" type="slidenum">
              <a:rPr lang="en-GB" smtClean="0"/>
              <a:pPr/>
              <a:t>42</a:t>
            </a:fld>
            <a:endParaRPr lang="en-GB" smtClean="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10E970D0-F2F5-4987-95D6-3C6F2EC066ED}" type="slidenum">
              <a:rPr lang="en-GB" smtClean="0"/>
              <a:pPr/>
              <a:t>43</a:t>
            </a:fld>
            <a:endParaRPr lang="en-GB" smtClean="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CA21D4E3-FA6A-464E-A7CC-552307933BD5}" type="slidenum">
              <a:rPr lang="en-GB" smtClean="0"/>
              <a:pPr/>
              <a:t>44</a:t>
            </a:fld>
            <a:endParaRPr lang="en-GB" smtClean="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FF77FE85-878E-468A-9F83-10CCFC05934F}" type="slidenum">
              <a:rPr lang="en-GB" smtClean="0"/>
              <a:pPr/>
              <a:t>45</a:t>
            </a:fld>
            <a:endParaRPr lang="en-GB" smtClean="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pPr>
              <a:defRPr/>
            </a:pPr>
            <a:endParaRPr lang="en-GB"/>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pPr>
              <a:defRPr/>
            </a:pPr>
            <a:endParaRPr lang="en-GB"/>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pPr>
              <a:defRPr/>
            </a:pPr>
            <a:fld id="{4B17C3DB-8AC2-466B-B606-54CEA87D55B9}" type="slidenum">
              <a:rPr lang="en-GB" smtClean="0"/>
              <a:pPr>
                <a:defRPr/>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pPr>
              <a:defRPr/>
            </a:pPr>
            <a:endParaRPr lang="en-GB"/>
          </a:p>
        </p:txBody>
      </p:sp>
      <p:sp>
        <p:nvSpPr>
          <p:cNvPr id="5" name="Footer Placeholder 4"/>
          <p:cNvSpPr>
            <a:spLocks noGrp="1"/>
          </p:cNvSpPr>
          <p:nvPr>
            <p:ph type="ftr" sz="quarter" idx="11"/>
          </p:nvPr>
        </p:nvSpPr>
        <p:spPr/>
        <p:txBody>
          <a:bodyPr/>
          <a:lstStyle>
            <a:extLst/>
          </a:lstStyle>
          <a:p>
            <a:pPr>
              <a:defRPr/>
            </a:pPr>
            <a:endParaRPr lang="en-GB"/>
          </a:p>
        </p:txBody>
      </p:sp>
      <p:sp>
        <p:nvSpPr>
          <p:cNvPr id="6" name="Slide Number Placeholder 5"/>
          <p:cNvSpPr>
            <a:spLocks noGrp="1"/>
          </p:cNvSpPr>
          <p:nvPr>
            <p:ph type="sldNum" sz="quarter" idx="12"/>
          </p:nvPr>
        </p:nvSpPr>
        <p:spPr/>
        <p:txBody>
          <a:bodyPr/>
          <a:lstStyle>
            <a:extLst/>
          </a:lstStyle>
          <a:p>
            <a:pPr>
              <a:defRPr/>
            </a:pPr>
            <a:fld id="{E721D087-6594-4131-A4D2-EF4C987FD71E}" type="slidenum">
              <a:rPr lang="en-GB" smtClean="0"/>
              <a:pPr>
                <a:defRPr/>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pPr>
              <a:defRPr/>
            </a:pPr>
            <a:endParaRPr lang="en-GB"/>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pPr>
              <a:defRPr/>
            </a:pPr>
            <a:endParaRPr lang="en-GB"/>
          </a:p>
        </p:txBody>
      </p:sp>
      <p:sp>
        <p:nvSpPr>
          <p:cNvPr id="6" name="Slide Number Placeholder 5"/>
          <p:cNvSpPr>
            <a:spLocks noGrp="1"/>
          </p:cNvSpPr>
          <p:nvPr>
            <p:ph type="sldNum" sz="quarter" idx="12"/>
          </p:nvPr>
        </p:nvSpPr>
        <p:spPr>
          <a:xfrm>
            <a:off x="6733952" y="6555112"/>
            <a:ext cx="588336" cy="228600"/>
          </a:xfrm>
        </p:spPr>
        <p:txBody>
          <a:bodyPr/>
          <a:lstStyle>
            <a:extLst/>
          </a:lstStyle>
          <a:p>
            <a:pPr>
              <a:defRPr/>
            </a:pPr>
            <a:fld id="{03B8551B-EA0A-484D-A747-09134BE1005B}" type="slidenum">
              <a:rPr lang="en-GB" smtClean="0"/>
              <a:pPr>
                <a:defRPr/>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pPr>
              <a:defRPr/>
            </a:pPr>
            <a:endParaRPr lang="en-GB"/>
          </a:p>
        </p:txBody>
      </p:sp>
      <p:sp>
        <p:nvSpPr>
          <p:cNvPr id="6" name="Footer Placeholder 5"/>
          <p:cNvSpPr>
            <a:spLocks noGrp="1"/>
          </p:cNvSpPr>
          <p:nvPr>
            <p:ph type="ftr" sz="quarter" idx="11"/>
          </p:nvPr>
        </p:nvSpPr>
        <p:spPr/>
        <p:txBody>
          <a:bodyPr/>
          <a:lstStyle>
            <a:extLst/>
          </a:lstStyle>
          <a:p>
            <a:pPr>
              <a:defRPr/>
            </a:pPr>
            <a:endParaRPr lang="en-GB"/>
          </a:p>
        </p:txBody>
      </p:sp>
      <p:sp>
        <p:nvSpPr>
          <p:cNvPr id="7" name="Slide Number Placeholder 6"/>
          <p:cNvSpPr>
            <a:spLocks noGrp="1"/>
          </p:cNvSpPr>
          <p:nvPr>
            <p:ph type="sldNum" sz="quarter" idx="12"/>
          </p:nvPr>
        </p:nvSpPr>
        <p:spPr/>
        <p:txBody>
          <a:bodyPr/>
          <a:lstStyle>
            <a:extLst/>
          </a:lstStyle>
          <a:p>
            <a:pPr>
              <a:defRPr/>
            </a:pPr>
            <a:fld id="{E98A3DF1-3416-48BD-8C49-5A2C3E163853}" type="slidenum">
              <a:rPr lang="en-GB" smtClean="0"/>
              <a:pPr>
                <a:defRPr/>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pPr>
              <a:defRPr/>
            </a:pPr>
            <a:endParaRPr lang="en-GB"/>
          </a:p>
        </p:txBody>
      </p:sp>
      <p:sp>
        <p:nvSpPr>
          <p:cNvPr id="8" name="Footer Placeholder 7"/>
          <p:cNvSpPr>
            <a:spLocks noGrp="1"/>
          </p:cNvSpPr>
          <p:nvPr>
            <p:ph type="ftr" sz="quarter" idx="11"/>
          </p:nvPr>
        </p:nvSpPr>
        <p:spPr/>
        <p:txBody>
          <a:bodyPr/>
          <a:lstStyle>
            <a:extLst/>
          </a:lstStyle>
          <a:p>
            <a:pPr>
              <a:defRPr/>
            </a:pPr>
            <a:endParaRPr lang="en-GB"/>
          </a:p>
        </p:txBody>
      </p:sp>
      <p:sp>
        <p:nvSpPr>
          <p:cNvPr id="9" name="Slide Number Placeholder 8"/>
          <p:cNvSpPr>
            <a:spLocks noGrp="1"/>
          </p:cNvSpPr>
          <p:nvPr>
            <p:ph type="sldNum" sz="quarter" idx="12"/>
          </p:nvPr>
        </p:nvSpPr>
        <p:spPr/>
        <p:txBody>
          <a:bodyPr/>
          <a:lstStyle>
            <a:extLst/>
          </a:lstStyle>
          <a:p>
            <a:pPr>
              <a:defRPr/>
            </a:pPr>
            <a:fld id="{18D22219-E00F-4291-92A9-AE11BA39C3B5}" type="slidenum">
              <a:rPr lang="en-GB" smtClean="0"/>
              <a:pPr>
                <a:defRPr/>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pPr>
              <a:defRPr/>
            </a:pPr>
            <a:endParaRPr lang="en-GB"/>
          </a:p>
        </p:txBody>
      </p:sp>
      <p:sp>
        <p:nvSpPr>
          <p:cNvPr id="4" name="Footer Placeholder 3"/>
          <p:cNvSpPr>
            <a:spLocks noGrp="1"/>
          </p:cNvSpPr>
          <p:nvPr>
            <p:ph type="ftr" sz="quarter" idx="11"/>
          </p:nvPr>
        </p:nvSpPr>
        <p:spPr/>
        <p:txBody>
          <a:bodyPr/>
          <a:lstStyle>
            <a:extLst/>
          </a:lstStyle>
          <a:p>
            <a:pPr>
              <a:defRPr/>
            </a:pPr>
            <a:endParaRPr lang="en-GB"/>
          </a:p>
        </p:txBody>
      </p:sp>
      <p:sp>
        <p:nvSpPr>
          <p:cNvPr id="5" name="Slide Number Placeholder 4"/>
          <p:cNvSpPr>
            <a:spLocks noGrp="1"/>
          </p:cNvSpPr>
          <p:nvPr>
            <p:ph type="sldNum" sz="quarter" idx="12"/>
          </p:nvPr>
        </p:nvSpPr>
        <p:spPr/>
        <p:txBody>
          <a:bodyPr/>
          <a:lstStyle>
            <a:extLst/>
          </a:lstStyle>
          <a:p>
            <a:pPr>
              <a:defRPr/>
            </a:pPr>
            <a:fld id="{C711E512-1647-4F8F-82CC-497F3764F92A}" type="slidenum">
              <a:rPr lang="en-GB" smtClean="0"/>
              <a:pPr>
                <a:defRPr/>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pPr>
              <a:defRPr/>
            </a:pPr>
            <a:endParaRPr lang="en-GB"/>
          </a:p>
        </p:txBody>
      </p:sp>
      <p:sp>
        <p:nvSpPr>
          <p:cNvPr id="3" name="Footer Placeholder 2"/>
          <p:cNvSpPr>
            <a:spLocks noGrp="1"/>
          </p:cNvSpPr>
          <p:nvPr>
            <p:ph type="ftr" sz="quarter" idx="11"/>
          </p:nvPr>
        </p:nvSpPr>
        <p:spPr/>
        <p:txBody>
          <a:bodyPr/>
          <a:lstStyle>
            <a:lvl1pPr>
              <a:defRPr>
                <a:solidFill>
                  <a:schemeClr val="tx2"/>
                </a:solidFill>
              </a:defRPr>
            </a:lvl1pPr>
            <a:extLst/>
          </a:lstStyle>
          <a:p>
            <a:pPr>
              <a:defRPr/>
            </a:pPr>
            <a:endParaRPr lang="en-GB"/>
          </a:p>
        </p:txBody>
      </p:sp>
      <p:sp>
        <p:nvSpPr>
          <p:cNvPr id="4" name="Slide Number Placeholder 3"/>
          <p:cNvSpPr>
            <a:spLocks noGrp="1"/>
          </p:cNvSpPr>
          <p:nvPr>
            <p:ph type="sldNum" sz="quarter" idx="12"/>
          </p:nvPr>
        </p:nvSpPr>
        <p:spPr/>
        <p:txBody>
          <a:bodyPr/>
          <a:lstStyle>
            <a:extLst/>
          </a:lstStyle>
          <a:p>
            <a:pPr>
              <a:defRPr/>
            </a:pPr>
            <a:fld id="{4FA6BCCB-5CA3-4A51-B417-E2847287AA69}" type="slidenum">
              <a:rPr lang="en-GB" smtClean="0"/>
              <a:pPr>
                <a:defRPr/>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pPr>
              <a:defRPr/>
            </a:pPr>
            <a:endParaRPr lang="en-GB"/>
          </a:p>
        </p:txBody>
      </p:sp>
      <p:sp>
        <p:nvSpPr>
          <p:cNvPr id="6" name="Footer Placeholder 5"/>
          <p:cNvSpPr>
            <a:spLocks noGrp="1"/>
          </p:cNvSpPr>
          <p:nvPr>
            <p:ph type="ftr" sz="quarter" idx="11"/>
          </p:nvPr>
        </p:nvSpPr>
        <p:spPr/>
        <p:txBody>
          <a:bodyPr/>
          <a:lstStyle>
            <a:extLst/>
          </a:lstStyle>
          <a:p>
            <a:pPr>
              <a:defRPr/>
            </a:pPr>
            <a:endParaRPr lang="en-GB"/>
          </a:p>
        </p:txBody>
      </p:sp>
      <p:sp>
        <p:nvSpPr>
          <p:cNvPr id="7" name="Slide Number Placeholder 6"/>
          <p:cNvSpPr>
            <a:spLocks noGrp="1"/>
          </p:cNvSpPr>
          <p:nvPr>
            <p:ph type="sldNum" sz="quarter" idx="12"/>
          </p:nvPr>
        </p:nvSpPr>
        <p:spPr/>
        <p:txBody>
          <a:bodyPr/>
          <a:lstStyle>
            <a:extLst/>
          </a:lstStyle>
          <a:p>
            <a:pPr>
              <a:defRPr/>
            </a:pPr>
            <a:fld id="{779BB645-A09B-479C-BEBE-CF72A5066494}" type="slidenum">
              <a:rPr lang="en-GB" smtClean="0"/>
              <a:pPr>
                <a:defRPr/>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pPr>
              <a:defRPr/>
            </a:pPr>
            <a:endParaRPr lang="en-GB"/>
          </a:p>
        </p:txBody>
      </p:sp>
      <p:sp>
        <p:nvSpPr>
          <p:cNvPr id="6" name="Footer Placeholder 5"/>
          <p:cNvSpPr>
            <a:spLocks noGrp="1"/>
          </p:cNvSpPr>
          <p:nvPr>
            <p:ph type="ftr" sz="quarter" idx="11"/>
          </p:nvPr>
        </p:nvSpPr>
        <p:spPr/>
        <p:txBody>
          <a:bodyPr/>
          <a:lstStyle>
            <a:extLst/>
          </a:lstStyle>
          <a:p>
            <a:pPr>
              <a:defRPr/>
            </a:pPr>
            <a:endParaRPr lang="en-GB"/>
          </a:p>
        </p:txBody>
      </p:sp>
      <p:sp>
        <p:nvSpPr>
          <p:cNvPr id="7" name="Slide Number Placeholder 6"/>
          <p:cNvSpPr>
            <a:spLocks noGrp="1"/>
          </p:cNvSpPr>
          <p:nvPr>
            <p:ph type="sldNum" sz="quarter" idx="12"/>
          </p:nvPr>
        </p:nvSpPr>
        <p:spPr/>
        <p:txBody>
          <a:bodyPr/>
          <a:lstStyle>
            <a:extLst/>
          </a:lstStyle>
          <a:p>
            <a:pPr>
              <a:defRPr/>
            </a:pPr>
            <a:fld id="{4D8A77C5-5C2C-4D7C-B275-23413CB902C3}" type="slidenum">
              <a:rPr lang="en-GB" smtClean="0"/>
              <a:pPr>
                <a:defRPr/>
              </a:pPr>
              <a:t>‹#›</a:t>
            </a:fld>
            <a:endParaRPr lang="en-GB"/>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pPr>
              <a:defRPr/>
            </a:pPr>
            <a:endParaRPr lang="en-GB"/>
          </a:p>
        </p:txBody>
      </p:sp>
      <p:sp>
        <p:nvSpPr>
          <p:cNvPr id="5" name="Footer Placeholder 4"/>
          <p:cNvSpPr>
            <a:spLocks noGrp="1"/>
          </p:cNvSpPr>
          <p:nvPr>
            <p:ph type="ftr" sz="quarter" idx="11"/>
          </p:nvPr>
        </p:nvSpPr>
        <p:spPr/>
        <p:txBody>
          <a:bodyPr/>
          <a:lstStyle>
            <a:extLst/>
          </a:lstStyle>
          <a:p>
            <a:pPr>
              <a:defRPr/>
            </a:pPr>
            <a:endParaRPr lang="en-GB"/>
          </a:p>
        </p:txBody>
      </p:sp>
      <p:sp>
        <p:nvSpPr>
          <p:cNvPr id="6" name="Slide Number Placeholder 5"/>
          <p:cNvSpPr>
            <a:spLocks noGrp="1"/>
          </p:cNvSpPr>
          <p:nvPr>
            <p:ph type="sldNum" sz="quarter" idx="12"/>
          </p:nvPr>
        </p:nvSpPr>
        <p:spPr/>
        <p:txBody>
          <a:bodyPr/>
          <a:lstStyle>
            <a:extLst/>
          </a:lstStyle>
          <a:p>
            <a:pPr>
              <a:defRPr/>
            </a:pPr>
            <a:fld id="{EB11A5C7-5D6D-4318-98F9-D9C58889A6D1}" type="slidenum">
              <a:rPr lang="en-GB" smtClean="0"/>
              <a:pPr>
                <a:defRPr/>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pPr>
              <a:defRPr/>
            </a:pPr>
            <a:endParaRPr lang="en-GB"/>
          </a:p>
        </p:txBody>
      </p:sp>
      <p:sp>
        <p:nvSpPr>
          <p:cNvPr id="5" name="Footer Placeholder 4"/>
          <p:cNvSpPr>
            <a:spLocks noGrp="1"/>
          </p:cNvSpPr>
          <p:nvPr>
            <p:ph type="ftr" sz="quarter" idx="11"/>
          </p:nvPr>
        </p:nvSpPr>
        <p:spPr>
          <a:xfrm>
            <a:off x="457200" y="6556248"/>
            <a:ext cx="3657600" cy="228600"/>
          </a:xfrm>
        </p:spPr>
        <p:txBody>
          <a:bodyPr/>
          <a:lstStyle>
            <a:extLst/>
          </a:lstStyle>
          <a:p>
            <a:pPr>
              <a:defRPr/>
            </a:pPr>
            <a:endParaRPr lang="en-GB"/>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pPr>
              <a:defRPr/>
            </a:pPr>
            <a:fld id="{23A8E5CD-D37C-4FA4-B807-C59AD6DE85C3}" type="slidenum">
              <a:rPr lang="en-GB" smtClean="0"/>
              <a:pPr>
                <a:defRPr/>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0013" y="381000"/>
            <a:ext cx="6859587"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371600" y="1676400"/>
            <a:ext cx="3352800" cy="4267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76800" y="1676400"/>
            <a:ext cx="3352800" cy="4267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2"/>
          <p:cNvSpPr>
            <a:spLocks noGrp="1" noChangeArrowheads="1"/>
          </p:cNvSpPr>
          <p:nvPr>
            <p:ph type="dt" sz="quarter" idx="10"/>
          </p:nvPr>
        </p:nvSpPr>
        <p:spPr/>
        <p:txBody>
          <a:bodyPr/>
          <a:lstStyle>
            <a:lvl1pPr>
              <a:defRPr/>
            </a:lvl1pPr>
          </a:lstStyle>
          <a:p>
            <a:pPr>
              <a:defRPr/>
            </a:pPr>
            <a:endParaRPr lang="en-US"/>
          </a:p>
        </p:txBody>
      </p:sp>
      <p:sp>
        <p:nvSpPr>
          <p:cNvPr id="6" name="Rectangle 13"/>
          <p:cNvSpPr>
            <a:spLocks noGrp="1" noChangeArrowheads="1"/>
          </p:cNvSpPr>
          <p:nvPr>
            <p:ph type="ftr" sz="quarter" idx="11"/>
          </p:nvPr>
        </p:nvSpPr>
        <p:spPr/>
        <p:txBody>
          <a:bodyPr/>
          <a:lstStyle>
            <a:lvl1pPr>
              <a:defRPr/>
            </a:lvl1pPr>
          </a:lstStyle>
          <a:p>
            <a:pPr>
              <a:defRPr/>
            </a:pPr>
            <a:endParaRPr lang="en-US"/>
          </a:p>
        </p:txBody>
      </p:sp>
      <p:sp>
        <p:nvSpPr>
          <p:cNvPr id="7" name="Rectangle 14"/>
          <p:cNvSpPr>
            <a:spLocks noGrp="1" noChangeArrowheads="1"/>
          </p:cNvSpPr>
          <p:nvPr>
            <p:ph type="sldNum" sz="quarter" idx="12"/>
          </p:nvPr>
        </p:nvSpPr>
        <p:spPr/>
        <p:txBody>
          <a:bodyPr/>
          <a:lstStyle>
            <a:lvl1pPr>
              <a:defRPr/>
            </a:lvl1pPr>
          </a:lstStyle>
          <a:p>
            <a:pPr>
              <a:defRPr/>
            </a:pPr>
            <a:fld id="{0F7541E4-3E79-48C5-BAC1-D79BA8E51D78}" type="slidenum">
              <a:rPr lang="en-US"/>
              <a:pPr>
                <a:defRPr/>
              </a:pPr>
              <a:t>‹#›</a:t>
            </a:fld>
            <a:endParaRPr lang="en-US"/>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4"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pPr>
              <a:defRPr/>
            </a:pPr>
            <a:endParaRPr lang="en-GB"/>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pPr>
              <a:defRPr/>
            </a:pPr>
            <a:endParaRPr lang="en-GB"/>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pPr>
              <a:defRPr/>
            </a:pPr>
            <a:fld id="{6919A4FB-31D7-4134-8CD9-E3DA5809A493}" type="slidenum">
              <a:rPr lang="en-GB" smtClean="0"/>
              <a:pPr>
                <a:defRPr/>
              </a:pPr>
              <a:t>‹#›</a:t>
            </a:fld>
            <a:endParaRPr lang="en-GB"/>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3366868" y="533400"/>
            <a:ext cx="5105400" cy="4038600"/>
          </a:xfrm>
        </p:spPr>
        <p:txBody>
          <a:bodyPr/>
          <a:lstStyle/>
          <a:p>
            <a:pPr algn="ctr" eaLnBrk="1" hangingPunct="1">
              <a:defRPr/>
            </a:pPr>
            <a:r>
              <a:rPr lang="en-US" sz="5400" dirty="0" smtClean="0">
                <a:latin typeface="Times New Roman" pitchFamily="18" charset="0"/>
                <a:cs typeface="Times New Roman" pitchFamily="18" charset="0"/>
              </a:rPr>
              <a:t>TOURISM PRODUCT,</a:t>
            </a:r>
            <a:r>
              <a:rPr lang="ga-IE" sz="5400" dirty="0" smtClean="0">
                <a:latin typeface="Times New Roman" pitchFamily="18" charset="0"/>
                <a:cs typeface="Times New Roman" pitchFamily="18" charset="0"/>
              </a:rPr>
              <a:t> Motiv</a:t>
            </a:r>
            <a:r>
              <a:rPr lang="en-US" sz="5400" dirty="0" smtClean="0">
                <a:latin typeface="Times New Roman" pitchFamily="18" charset="0"/>
                <a:cs typeface="Times New Roman" pitchFamily="18" charset="0"/>
              </a:rPr>
              <a:t>ES</a:t>
            </a:r>
            <a:r>
              <a:rPr lang="ga-IE" sz="5400" dirty="0" smtClean="0">
                <a:latin typeface="Times New Roman" pitchFamily="18" charset="0"/>
                <a:cs typeface="Times New Roman" pitchFamily="18" charset="0"/>
              </a:rPr>
              <a:t> </a:t>
            </a:r>
            <a:r>
              <a:rPr lang="en-US" sz="5400" dirty="0" smtClean="0">
                <a:latin typeface="Times New Roman" pitchFamily="18" charset="0"/>
                <a:cs typeface="Times New Roman" pitchFamily="18" charset="0"/>
              </a:rPr>
              <a:t>&amp;</a:t>
            </a:r>
            <a:r>
              <a:rPr lang="ga-IE" sz="5400" dirty="0" smtClean="0">
                <a:latin typeface="Times New Roman" pitchFamily="18" charset="0"/>
                <a:cs typeface="Times New Roman" pitchFamily="18" charset="0"/>
              </a:rPr>
              <a:t> </a:t>
            </a:r>
            <a:r>
              <a:rPr lang="en-US" sz="5400" dirty="0" smtClean="0">
                <a:latin typeface="Times New Roman" pitchFamily="18" charset="0"/>
                <a:cs typeface="Times New Roman" pitchFamily="18" charset="0"/>
              </a:rPr>
              <a:t>TYPOLOGIES</a:t>
            </a:r>
            <a:r>
              <a:rPr lang="ga-IE" sz="5400" dirty="0" smtClean="0">
                <a:latin typeface="Times New Roman" pitchFamily="18" charset="0"/>
                <a:cs typeface="Times New Roman" pitchFamily="18" charset="0"/>
              </a:rPr>
              <a:t> </a:t>
            </a:r>
            <a:endParaRPr lang="en-GB" sz="5400" dirty="0" smtClean="0">
              <a:latin typeface="Times New Roman" pitchFamily="18" charset="0"/>
              <a:cs typeface="Times New Roman" pitchFamily="18" charset="0"/>
            </a:endParaRPr>
          </a:p>
        </p:txBody>
      </p:sp>
      <p:sp>
        <p:nvSpPr>
          <p:cNvPr id="2051" name="Rectangle 3"/>
          <p:cNvSpPr>
            <a:spLocks noGrp="1" noChangeArrowheads="1"/>
          </p:cNvSpPr>
          <p:nvPr>
            <p:ph type="subTitle" idx="1"/>
          </p:nvPr>
        </p:nvSpPr>
        <p:spPr>
          <a:xfrm>
            <a:off x="3354442" y="5334000"/>
            <a:ext cx="5114778" cy="1066800"/>
          </a:xfrm>
        </p:spPr>
        <p:txBody>
          <a:bodyPr>
            <a:normAutofit fontScale="55000" lnSpcReduction="20000"/>
          </a:bodyPr>
          <a:lstStyle/>
          <a:p>
            <a:pPr eaLnBrk="1" hangingPunct="1">
              <a:lnSpc>
                <a:spcPct val="80000"/>
              </a:lnSpc>
              <a:defRPr/>
            </a:pPr>
            <a:endParaRPr lang="ga-IE" sz="2000" dirty="0" smtClean="0">
              <a:latin typeface="Times New Roman" pitchFamily="18" charset="0"/>
              <a:cs typeface="Times New Roman" pitchFamily="18" charset="0"/>
            </a:endParaRPr>
          </a:p>
          <a:p>
            <a:pPr algn="ctr" eaLnBrk="1" hangingPunct="1">
              <a:lnSpc>
                <a:spcPct val="80000"/>
              </a:lnSpc>
              <a:defRPr/>
            </a:pPr>
            <a:r>
              <a:rPr lang="en-US" sz="4800" dirty="0" smtClean="0">
                <a:latin typeface="Times New Roman" pitchFamily="18" charset="0"/>
                <a:cs typeface="Times New Roman" pitchFamily="18" charset="0"/>
              </a:rPr>
              <a:t>SADEKE SMITH</a:t>
            </a:r>
          </a:p>
          <a:p>
            <a:pPr algn="ctr" eaLnBrk="1" hangingPunct="1">
              <a:lnSpc>
                <a:spcPct val="80000"/>
              </a:lnSpc>
              <a:defRPr/>
            </a:pPr>
            <a:endParaRPr lang="en-US" sz="4800" dirty="0" smtClean="0">
              <a:latin typeface="Times New Roman" pitchFamily="18" charset="0"/>
              <a:cs typeface="Times New Roman" pitchFamily="18" charset="0"/>
            </a:endParaRPr>
          </a:p>
          <a:p>
            <a:pPr algn="ctr" eaLnBrk="1" hangingPunct="1">
              <a:lnSpc>
                <a:spcPct val="80000"/>
              </a:lnSpc>
              <a:defRPr/>
            </a:pPr>
            <a:r>
              <a:rPr lang="en-US" sz="4800" dirty="0" smtClean="0">
                <a:latin typeface="Times New Roman" pitchFamily="18" charset="0"/>
                <a:cs typeface="Times New Roman" pitchFamily="18" charset="0"/>
              </a:rPr>
              <a:t>COLBOURNE COLLEGE</a:t>
            </a:r>
            <a:endParaRPr lang="ga-IE" sz="4800" dirty="0" smtClean="0">
              <a:latin typeface="Times New Roman" pitchFamily="18" charset="0"/>
              <a:cs typeface="Times New Roman" pitchFamily="18" charset="0"/>
            </a:endParaRPr>
          </a:p>
          <a:p>
            <a:pPr eaLnBrk="1" hangingPunct="1">
              <a:lnSpc>
                <a:spcPct val="80000"/>
              </a:lnSpc>
              <a:defRPr/>
            </a:pPr>
            <a:endParaRPr lang="ga-IE" sz="2000" dirty="0" smtClean="0"/>
          </a:p>
          <a:p>
            <a:pPr eaLnBrk="1" hangingPunct="1">
              <a:lnSpc>
                <a:spcPct val="80000"/>
              </a:lnSpc>
              <a:defRPr/>
            </a:pPr>
            <a:endParaRPr lang="ga-IE" sz="20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rrowheads="1"/>
          </p:cNvSpPr>
          <p:nvPr>
            <p:ph type="title"/>
          </p:nvPr>
        </p:nvSpPr>
        <p:spPr/>
        <p:txBody>
          <a:bodyPr/>
          <a:lstStyle/>
          <a:p>
            <a:pPr eaLnBrk="1" hangingPunct="1">
              <a:defRPr/>
            </a:pPr>
            <a:r>
              <a:rPr lang="ga-IE" dirty="0" smtClean="0">
                <a:latin typeface="Times New Roman" pitchFamily="18" charset="0"/>
                <a:cs typeface="Times New Roman" pitchFamily="18" charset="0"/>
              </a:rPr>
              <a:t>Objectives</a:t>
            </a:r>
            <a:endParaRPr lang="en-GB" dirty="0" smtClean="0">
              <a:latin typeface="Times New Roman" pitchFamily="18" charset="0"/>
              <a:cs typeface="Times New Roman" pitchFamily="18" charset="0"/>
            </a:endParaRPr>
          </a:p>
        </p:txBody>
      </p:sp>
      <p:sp>
        <p:nvSpPr>
          <p:cNvPr id="68611" name="Rectangle 3"/>
          <p:cNvSpPr>
            <a:spLocks noGrp="1" noChangeArrowheads="1"/>
          </p:cNvSpPr>
          <p:nvPr>
            <p:ph idx="1"/>
          </p:nvPr>
        </p:nvSpPr>
        <p:spPr/>
        <p:txBody>
          <a:bodyPr/>
          <a:lstStyle/>
          <a:p>
            <a:pPr algn="just" eaLnBrk="1" hangingPunct="1">
              <a:defRPr/>
            </a:pPr>
            <a:endParaRPr lang="ga-IE" dirty="0" smtClean="0">
              <a:latin typeface="Times New Roman" pitchFamily="18" charset="0"/>
              <a:cs typeface="Times New Roman" pitchFamily="18" charset="0"/>
            </a:endParaRPr>
          </a:p>
          <a:p>
            <a:pPr algn="just" eaLnBrk="1" hangingPunct="1">
              <a:defRPr/>
            </a:pPr>
            <a:r>
              <a:rPr lang="ga-IE" dirty="0" smtClean="0">
                <a:latin typeface="Times New Roman" pitchFamily="18" charset="0"/>
                <a:cs typeface="Times New Roman" pitchFamily="18" charset="0"/>
              </a:rPr>
              <a:t>Characteristics of the Tourism Industry</a:t>
            </a:r>
          </a:p>
          <a:p>
            <a:pPr algn="just" eaLnBrk="1" hangingPunct="1">
              <a:defRPr/>
            </a:pPr>
            <a:r>
              <a:rPr lang="en-US" dirty="0" smtClean="0">
                <a:latin typeface="Times New Roman" pitchFamily="18" charset="0"/>
                <a:cs typeface="Times New Roman" pitchFamily="18" charset="0"/>
              </a:rPr>
              <a:t>Tourist motivations for travel</a:t>
            </a:r>
          </a:p>
          <a:p>
            <a:pPr algn="just" eaLnBrk="1" hangingPunct="1">
              <a:defRPr/>
            </a:pPr>
            <a:r>
              <a:rPr lang="en-US" dirty="0" smtClean="0">
                <a:latin typeface="Times New Roman" pitchFamily="18" charset="0"/>
                <a:cs typeface="Times New Roman" pitchFamily="18" charset="0"/>
              </a:rPr>
              <a:t>Pull and Push Factor Theory &amp; typologies</a:t>
            </a:r>
          </a:p>
          <a:p>
            <a:pPr eaLnBrk="1" hangingPunct="1">
              <a:defRPr/>
            </a:pPr>
            <a:endParaRPr lang="en-US" dirty="0" smtClean="0"/>
          </a:p>
          <a:p>
            <a:pPr eaLnBrk="1" hangingPunct="1">
              <a:defRPr/>
            </a:pPr>
            <a:endParaRPr lang="en-GB"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rrowheads="1"/>
          </p:cNvSpPr>
          <p:nvPr>
            <p:ph type="title"/>
          </p:nvPr>
        </p:nvSpPr>
        <p:spPr>
          <a:xfrm>
            <a:off x="457200" y="152400"/>
            <a:ext cx="7239000" cy="990600"/>
          </a:xfrm>
        </p:spPr>
        <p:txBody>
          <a:bodyPr/>
          <a:lstStyle/>
          <a:p>
            <a:pPr eaLnBrk="1" hangingPunct="1">
              <a:defRPr/>
            </a:pPr>
            <a:r>
              <a:rPr lang="ga-IE" dirty="0" smtClean="0">
                <a:latin typeface="Times New Roman" pitchFamily="18" charset="0"/>
                <a:cs typeface="Times New Roman" pitchFamily="18" charset="0"/>
              </a:rPr>
              <a:t>The Tourism Product</a:t>
            </a:r>
            <a:endParaRPr lang="en-GB" dirty="0" smtClean="0">
              <a:latin typeface="Times New Roman" pitchFamily="18" charset="0"/>
              <a:cs typeface="Times New Roman" pitchFamily="18" charset="0"/>
            </a:endParaRPr>
          </a:p>
        </p:txBody>
      </p:sp>
      <p:sp>
        <p:nvSpPr>
          <p:cNvPr id="13315" name="Rectangle 3"/>
          <p:cNvSpPr>
            <a:spLocks noGrp="1" noChangeArrowheads="1"/>
          </p:cNvSpPr>
          <p:nvPr>
            <p:ph idx="1"/>
          </p:nvPr>
        </p:nvSpPr>
        <p:spPr>
          <a:xfrm>
            <a:off x="0" y="1295400"/>
            <a:ext cx="8839200" cy="5334000"/>
          </a:xfrm>
        </p:spPr>
        <p:txBody>
          <a:bodyPr/>
          <a:lstStyle/>
          <a:p>
            <a:pPr algn="ctr" eaLnBrk="1" hangingPunct="1">
              <a:buFont typeface="Wingdings" pitchFamily="2" charset="2"/>
              <a:buNone/>
              <a:defRPr/>
            </a:pPr>
            <a:r>
              <a:rPr lang="en-US" b="1" i="1" dirty="0" smtClean="0">
                <a:latin typeface="Times New Roman" pitchFamily="18" charset="0"/>
                <a:cs typeface="Times New Roman" pitchFamily="18" charset="0"/>
              </a:rPr>
              <a:t>“Also known as the Service Industry”</a:t>
            </a:r>
          </a:p>
          <a:p>
            <a:pPr algn="ctr" eaLnBrk="1" hangingPunct="1">
              <a:buFont typeface="Wingdings" pitchFamily="2" charset="2"/>
              <a:buNone/>
              <a:defRPr/>
            </a:pPr>
            <a:r>
              <a:rPr lang="ga-IE" b="1" u="sng" dirty="0" smtClean="0">
                <a:latin typeface="Times New Roman" pitchFamily="18" charset="0"/>
                <a:cs typeface="Times New Roman" pitchFamily="18" charset="0"/>
              </a:rPr>
              <a:t>Overview</a:t>
            </a:r>
          </a:p>
          <a:p>
            <a:pPr eaLnBrk="1" hangingPunct="1">
              <a:defRPr/>
            </a:pPr>
            <a:r>
              <a:rPr lang="ga-IE" dirty="0" smtClean="0">
                <a:latin typeface="Times New Roman" pitchFamily="18" charset="0"/>
                <a:cs typeface="Times New Roman" pitchFamily="18" charset="0"/>
              </a:rPr>
              <a:t>Open 365 days a year, 24 hours a day</a:t>
            </a:r>
          </a:p>
          <a:p>
            <a:pPr eaLnBrk="1" hangingPunct="1">
              <a:defRPr/>
            </a:pPr>
            <a:r>
              <a:rPr lang="ga-IE" dirty="0" smtClean="0">
                <a:latin typeface="Times New Roman" pitchFamily="18" charset="0"/>
                <a:cs typeface="Times New Roman" pitchFamily="18" charset="0"/>
              </a:rPr>
              <a:t>Longer hours than some other industries</a:t>
            </a:r>
          </a:p>
          <a:p>
            <a:pPr eaLnBrk="1" hangingPunct="1">
              <a:defRPr/>
            </a:pPr>
            <a:r>
              <a:rPr lang="ga-IE" dirty="0" smtClean="0">
                <a:latin typeface="Times New Roman" pitchFamily="18" charset="0"/>
                <a:cs typeface="Times New Roman" pitchFamily="18" charset="0"/>
              </a:rPr>
              <a:t>Holiday work</a:t>
            </a:r>
            <a:r>
              <a:rPr lang="en-US" dirty="0" smtClean="0">
                <a:latin typeface="Times New Roman" pitchFamily="18" charset="0"/>
                <a:cs typeface="Times New Roman" pitchFamily="18" charset="0"/>
              </a:rPr>
              <a:t> – </a:t>
            </a:r>
            <a:r>
              <a:rPr lang="en-US" sz="2400" dirty="0" smtClean="0">
                <a:latin typeface="Times New Roman" pitchFamily="18" charset="0"/>
                <a:cs typeface="Times New Roman" pitchFamily="18" charset="0"/>
              </a:rPr>
              <a:t>Every Holiday/Seasonal employment (open)</a:t>
            </a:r>
            <a:endParaRPr lang="ga-IE" sz="2400" dirty="0" smtClean="0">
              <a:latin typeface="Times New Roman" pitchFamily="18" charset="0"/>
              <a:cs typeface="Times New Roman" pitchFamily="18" charset="0"/>
            </a:endParaRPr>
          </a:p>
          <a:p>
            <a:pPr eaLnBrk="1" hangingPunct="1">
              <a:defRPr/>
            </a:pPr>
            <a:r>
              <a:rPr lang="ga-IE" dirty="0" smtClean="0">
                <a:latin typeface="Times New Roman" pitchFamily="18" charset="0"/>
                <a:cs typeface="Times New Roman" pitchFamily="18" charset="0"/>
              </a:rPr>
              <a:t>Shift work</a:t>
            </a:r>
          </a:p>
          <a:p>
            <a:pPr eaLnBrk="1" hangingPunct="1">
              <a:defRPr/>
            </a:pPr>
            <a:r>
              <a:rPr lang="ga-IE" dirty="0" smtClean="0">
                <a:latin typeface="Times New Roman" pitchFamily="18" charset="0"/>
                <a:cs typeface="Times New Roman" pitchFamily="18" charset="0"/>
              </a:rPr>
              <a:t>Guest satisfaction</a:t>
            </a:r>
          </a:p>
          <a:p>
            <a:pPr eaLnBrk="1" hangingPunct="1">
              <a:defRPr/>
            </a:pPr>
            <a:r>
              <a:rPr lang="ga-IE" dirty="0" smtClean="0">
                <a:latin typeface="Times New Roman" pitchFamily="18" charset="0"/>
                <a:cs typeface="Times New Roman" pitchFamily="18" charset="0"/>
              </a:rPr>
              <a:t>Labour intensive</a:t>
            </a:r>
          </a:p>
          <a:p>
            <a:pPr eaLnBrk="1" hangingPunct="1">
              <a:buFont typeface="Wingdings" pitchFamily="2" charset="2"/>
              <a:buNone/>
              <a:defRPr/>
            </a:pPr>
            <a:endParaRPr lang="ga-IE" dirty="0" smtClean="0"/>
          </a:p>
          <a:p>
            <a:pPr eaLnBrk="1" hangingPunct="1">
              <a:buFont typeface="Wingdings" pitchFamily="2" charset="2"/>
              <a:buNone/>
              <a:defRPr/>
            </a:pPr>
            <a:endParaRPr lang="ga-IE" dirty="0" smtClean="0"/>
          </a:p>
          <a:p>
            <a:pPr eaLnBrk="1" hangingPunct="1">
              <a:defRPr/>
            </a:pPr>
            <a:endParaRPr lang="en-GB"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5"/>
          <p:cNvPicPr>
            <a:picLocks noChangeAspect="1" noChangeArrowheads="1"/>
          </p:cNvPicPr>
          <p:nvPr/>
        </p:nvPicPr>
        <p:blipFill>
          <a:blip r:embed="rId3" cstate="print"/>
          <a:srcRect/>
          <a:stretch>
            <a:fillRect/>
          </a:stretch>
        </p:blipFill>
        <p:spPr bwMode="auto">
          <a:xfrm>
            <a:off x="838200" y="1752600"/>
            <a:ext cx="7229475" cy="4572000"/>
          </a:xfrm>
          <a:prstGeom prst="rect">
            <a:avLst/>
          </a:prstGeom>
          <a:noFill/>
          <a:ln w="9525">
            <a:noFill/>
            <a:miter lim="800000"/>
            <a:headEnd/>
            <a:tailEnd/>
          </a:ln>
        </p:spPr>
      </p:pic>
      <p:sp>
        <p:nvSpPr>
          <p:cNvPr id="9218"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The Tourism Product</a:t>
            </a:r>
            <a:endParaRPr lang="en-GB" dirty="0" smtClean="0">
              <a:latin typeface="Times New Roman" pitchFamily="18" charset="0"/>
              <a:cs typeface="Times New Roman" pitchFamily="18" charset="0"/>
            </a:endParaRPr>
          </a:p>
        </p:txBody>
      </p:sp>
      <p:sp>
        <p:nvSpPr>
          <p:cNvPr id="8196" name="Text Box 4"/>
          <p:cNvSpPr txBox="1">
            <a:spLocks noChangeArrowheads="1"/>
          </p:cNvSpPr>
          <p:nvPr/>
        </p:nvSpPr>
        <p:spPr bwMode="auto">
          <a:xfrm>
            <a:off x="2057400" y="2057400"/>
            <a:ext cx="6019800" cy="701675"/>
          </a:xfrm>
          <a:prstGeom prst="rect">
            <a:avLst/>
          </a:prstGeom>
          <a:noFill/>
          <a:ln w="9525">
            <a:noFill/>
            <a:miter lim="800000"/>
            <a:headEnd/>
            <a:tailEnd/>
          </a:ln>
        </p:spPr>
        <p:txBody>
          <a:bodyPr>
            <a:spAutoFit/>
          </a:bodyPr>
          <a:lstStyle/>
          <a:p>
            <a:pPr algn="ctr">
              <a:spcBef>
                <a:spcPct val="50000"/>
              </a:spcBef>
            </a:pPr>
            <a:r>
              <a:rPr lang="ga-IE" sz="4000" b="1" dirty="0">
                <a:solidFill>
                  <a:schemeClr val="hlink"/>
                </a:solidFill>
                <a:latin typeface="Times New Roman" pitchFamily="18" charset="0"/>
                <a:cs typeface="Times New Roman" pitchFamily="18" charset="0"/>
              </a:rPr>
              <a:t>Characteristics</a:t>
            </a:r>
            <a:endParaRPr lang="en-GB" sz="4000" b="1" dirty="0">
              <a:solidFill>
                <a:schemeClr val="hlink"/>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28600" y="228600"/>
            <a:ext cx="8763000" cy="914400"/>
          </a:xfrm>
        </p:spPr>
        <p:txBody>
          <a:bodyPr>
            <a:normAutofit fontScale="90000"/>
          </a:bodyPr>
          <a:lstStyle/>
          <a:p>
            <a:pPr algn="ctr">
              <a:defRPr/>
            </a:pPr>
            <a:r>
              <a:rPr lang="en-US" sz="3200" dirty="0" smtClean="0">
                <a:latin typeface="Times New Roman" pitchFamily="18" charset="0"/>
                <a:cs typeface="Times New Roman" pitchFamily="18" charset="0"/>
              </a:rPr>
              <a:t>What is the difference between a good and a service?</a:t>
            </a:r>
          </a:p>
        </p:txBody>
      </p:sp>
      <p:sp>
        <p:nvSpPr>
          <p:cNvPr id="9219" name="TextBox 4"/>
          <p:cNvSpPr txBox="1">
            <a:spLocks noChangeArrowheads="1"/>
          </p:cNvSpPr>
          <p:nvPr/>
        </p:nvSpPr>
        <p:spPr bwMode="auto">
          <a:xfrm>
            <a:off x="457200" y="1447800"/>
            <a:ext cx="8382000" cy="1384995"/>
          </a:xfrm>
          <a:prstGeom prst="rect">
            <a:avLst/>
          </a:prstGeom>
          <a:noFill/>
          <a:ln w="9525">
            <a:noFill/>
            <a:miter lim="800000"/>
            <a:headEnd/>
            <a:tailEnd/>
          </a:ln>
        </p:spPr>
        <p:txBody>
          <a:bodyPr>
            <a:spAutoFit/>
          </a:bodyPr>
          <a:lstStyle/>
          <a:p>
            <a:pPr algn="just"/>
            <a:r>
              <a:rPr lang="en-US" sz="2800" dirty="0">
                <a:latin typeface="Times New Roman" pitchFamily="18" charset="0"/>
                <a:cs typeface="Times New Roman" pitchFamily="18" charset="0"/>
              </a:rPr>
              <a:t>A good is something tangible, something with mass and takes up volume, it is something that you can physically touch, see and store.</a:t>
            </a:r>
          </a:p>
        </p:txBody>
      </p:sp>
      <p:sp>
        <p:nvSpPr>
          <p:cNvPr id="9220" name="TextBox 5"/>
          <p:cNvSpPr txBox="1">
            <a:spLocks noChangeArrowheads="1"/>
          </p:cNvSpPr>
          <p:nvPr/>
        </p:nvSpPr>
        <p:spPr bwMode="auto">
          <a:xfrm>
            <a:off x="457200" y="3200400"/>
            <a:ext cx="8458200" cy="2554288"/>
          </a:xfrm>
          <a:prstGeom prst="rect">
            <a:avLst/>
          </a:prstGeom>
          <a:noFill/>
          <a:ln w="9525">
            <a:noFill/>
            <a:miter lim="800000"/>
            <a:headEnd/>
            <a:tailEnd/>
          </a:ln>
        </p:spPr>
        <p:txBody>
          <a:bodyPr>
            <a:spAutoFit/>
          </a:bodyPr>
          <a:lstStyle/>
          <a:p>
            <a:pPr algn="just"/>
            <a:r>
              <a:rPr lang="en-US" sz="3200" dirty="0">
                <a:latin typeface="Times New Roman" pitchFamily="18" charset="0"/>
                <a:cs typeface="Times New Roman" pitchFamily="18" charset="0"/>
              </a:rPr>
              <a:t>A service on the other hand is very different. In that you can’t touch the service, you can’t hold on to it, smell it or taste it, in essence it is intangible. You can’t save up or store something that you can see and touch hence it is perishable</a:t>
            </a:r>
            <a:r>
              <a:rPr lang="en-US" sz="2800" dirty="0">
                <a:solidFill>
                  <a:srgbClr val="000000"/>
                </a:solidFill>
                <a:latin typeface="Times New Roman" pitchFamily="18" charset="0"/>
                <a:cs typeface="Times New Roman" pitchFamily="18" charset="0"/>
              </a:rPr>
              <a:t>.</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defRPr/>
            </a:pPr>
            <a:r>
              <a:rPr lang="en-US" sz="2800" dirty="0" smtClean="0"/>
              <a:t>         </a:t>
            </a:r>
            <a:r>
              <a:rPr lang="en-US" sz="2800" dirty="0" smtClean="0">
                <a:latin typeface="Times New Roman" pitchFamily="18" charset="0"/>
                <a:cs typeface="Times New Roman" pitchFamily="18" charset="0"/>
              </a:rPr>
              <a:t>Understanding Service   	</a:t>
            </a:r>
            <a:r>
              <a:rPr lang="en-US" sz="2800" dirty="0" smtClean="0"/>
              <a:t>			</a:t>
            </a:r>
            <a:endParaRPr lang="en-US" sz="1000" dirty="0" smtClean="0"/>
          </a:p>
        </p:txBody>
      </p:sp>
      <p:sp>
        <p:nvSpPr>
          <p:cNvPr id="1028" name="Rectangle 3"/>
          <p:cNvSpPr>
            <a:spLocks noGrp="1" noChangeArrowheads="1"/>
          </p:cNvSpPr>
          <p:nvPr>
            <p:ph type="body" sz="half" idx="1"/>
          </p:nvPr>
        </p:nvSpPr>
        <p:spPr>
          <a:xfrm>
            <a:off x="990600" y="1524000"/>
            <a:ext cx="6477000" cy="4724400"/>
          </a:xfrm>
        </p:spPr>
        <p:txBody>
          <a:bodyPr>
            <a:normAutofit/>
          </a:bodyPr>
          <a:lstStyle/>
          <a:p>
            <a:pPr eaLnBrk="1" hangingPunct="1">
              <a:defRPr/>
            </a:pPr>
            <a:r>
              <a:rPr lang="en-US" sz="2800" dirty="0" smtClean="0">
                <a:latin typeface="Times New Roman" pitchFamily="18" charset="0"/>
                <a:cs typeface="Times New Roman" pitchFamily="18" charset="0"/>
              </a:rPr>
              <a:t>A service is any act or performance that one party can offer to another that is essentially intangible and does not result in ownership of anything. Its production may or may not be tied to a physical product.</a:t>
            </a:r>
          </a:p>
          <a:p>
            <a:pPr eaLnBrk="1" hangingPunct="1">
              <a:defRPr/>
            </a:pPr>
            <a:endParaRPr lang="en-US" sz="2000" dirty="0" smtClean="0">
              <a:latin typeface="Times New Roman" pitchFamily="18" charset="0"/>
              <a:cs typeface="Times New Roman" pitchFamily="18" charset="0"/>
            </a:endParaRPr>
          </a:p>
          <a:p>
            <a:pPr eaLnBrk="1" hangingPunct="1">
              <a:defRPr/>
            </a:pPr>
            <a:r>
              <a:rPr lang="en-US" sz="2800" dirty="0" smtClean="0">
                <a:latin typeface="Times New Roman" pitchFamily="18" charset="0"/>
                <a:cs typeface="Times New Roman" pitchFamily="18" charset="0"/>
              </a:rPr>
              <a:t>Because services are generally high in experience and credence qualities, there is more risk in their purchase.</a:t>
            </a:r>
          </a:p>
        </p:txBody>
      </p:sp>
      <p:graphicFrame>
        <p:nvGraphicFramePr>
          <p:cNvPr id="1026" name="Object 5"/>
          <p:cNvGraphicFramePr>
            <a:graphicFrameLocks noChangeAspect="1"/>
          </p:cNvGraphicFramePr>
          <p:nvPr>
            <p:ph sz="half" idx="2"/>
          </p:nvPr>
        </p:nvGraphicFramePr>
        <p:xfrm>
          <a:off x="7467600" y="1600200"/>
          <a:ext cx="1444625" cy="1524000"/>
        </p:xfrm>
        <a:graphic>
          <a:graphicData uri="http://schemas.openxmlformats.org/presentationml/2006/ole">
            <p:oleObj spid="_x0000_s1026" name="SmartDraw" r:id="rId3" imgW="1734120" imgH="1828800" progId="">
              <p:embed/>
            </p:oleObj>
          </a:graphicData>
        </a:graphic>
      </p:graphicFrame>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1000"/>
            <a:ext cx="7391400" cy="1143000"/>
          </a:xfrm>
        </p:spPr>
        <p:txBody>
          <a:bodyPr>
            <a:normAutofit/>
          </a:bodyPr>
          <a:lstStyle/>
          <a:p>
            <a:pPr algn="ctr"/>
            <a:r>
              <a:rPr lang="en-US" dirty="0" smtClean="0">
                <a:latin typeface="Times New Roman" pitchFamily="18" charset="0"/>
                <a:cs typeface="Times New Roman" pitchFamily="18" charset="0"/>
              </a:rPr>
              <a:t>NATURE OF SERVICE</a:t>
            </a:r>
            <a:endParaRPr lang="en-US" dirty="0">
              <a:latin typeface="Times New Roman" pitchFamily="18" charset="0"/>
              <a:cs typeface="Times New Roman" pitchFamily="18" charset="0"/>
            </a:endParaRPr>
          </a:p>
        </p:txBody>
      </p:sp>
      <p:sp>
        <p:nvSpPr>
          <p:cNvPr id="3" name="Text Placeholder 2"/>
          <p:cNvSpPr>
            <a:spLocks noGrp="1"/>
          </p:cNvSpPr>
          <p:nvPr>
            <p:ph type="body" sz="half" idx="1"/>
          </p:nvPr>
        </p:nvSpPr>
        <p:spPr>
          <a:xfrm>
            <a:off x="1371600" y="2590800"/>
            <a:ext cx="3352800" cy="3352800"/>
          </a:xfrm>
        </p:spPr>
        <p:txBody>
          <a:bodyPr/>
          <a:lstStyle/>
          <a:p>
            <a:r>
              <a:rPr lang="en-US" dirty="0" smtClean="0">
                <a:latin typeface="Times New Roman" pitchFamily="18" charset="0"/>
                <a:cs typeface="Times New Roman" pitchFamily="18" charset="0"/>
              </a:rPr>
              <a:t>INTANGIBLE</a:t>
            </a:r>
          </a:p>
          <a:p>
            <a:r>
              <a:rPr lang="en-US" dirty="0" smtClean="0">
                <a:latin typeface="Times New Roman" pitchFamily="18" charset="0"/>
                <a:cs typeface="Times New Roman" pitchFamily="18" charset="0"/>
              </a:rPr>
              <a:t>INSEPARABLE</a:t>
            </a:r>
          </a:p>
          <a:p>
            <a:r>
              <a:rPr lang="en-US" dirty="0" smtClean="0">
                <a:latin typeface="Times New Roman" pitchFamily="18" charset="0"/>
                <a:cs typeface="Times New Roman" pitchFamily="18" charset="0"/>
              </a:rPr>
              <a:t>VARIABLE</a:t>
            </a:r>
          </a:p>
          <a:p>
            <a:r>
              <a:rPr lang="en-US" dirty="0" smtClean="0">
                <a:latin typeface="Times New Roman" pitchFamily="18" charset="0"/>
                <a:cs typeface="Times New Roman" pitchFamily="18" charset="0"/>
              </a:rPr>
              <a:t>PERISHABLE</a:t>
            </a:r>
          </a:p>
          <a:p>
            <a:endParaRPr lang="en-US" dirty="0"/>
          </a:p>
        </p:txBody>
      </p:sp>
      <p:sp>
        <p:nvSpPr>
          <p:cNvPr id="4" name="Content Placeholder 3"/>
          <p:cNvSpPr>
            <a:spLocks noGrp="1"/>
          </p:cNvSpPr>
          <p:nvPr>
            <p:ph sz="half" idx="2"/>
          </p:nvPr>
        </p:nvSpPr>
        <p:spPr/>
        <p:txBody>
          <a:bodyPr/>
          <a:lstStyle/>
          <a:p>
            <a:pPr>
              <a:buNone/>
            </a:pPr>
            <a:r>
              <a:rPr lang="en-US" dirty="0" smtClean="0"/>
              <a:t> </a:t>
            </a:r>
            <a:endParaRPr lang="en-US" dirty="0"/>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Intangibilty</a:t>
            </a:r>
            <a:endParaRPr lang="en-GB" dirty="0" smtClean="0">
              <a:latin typeface="Times New Roman" pitchFamily="18" charset="0"/>
              <a:cs typeface="Times New Roman" pitchFamily="18" charset="0"/>
            </a:endParaRPr>
          </a:p>
        </p:txBody>
      </p:sp>
      <p:sp>
        <p:nvSpPr>
          <p:cNvPr id="11267" name="Rectangle 3"/>
          <p:cNvSpPr>
            <a:spLocks noGrp="1" noChangeArrowheads="1"/>
          </p:cNvSpPr>
          <p:nvPr>
            <p:ph idx="1"/>
          </p:nvPr>
        </p:nvSpPr>
        <p:spPr/>
        <p:txBody>
          <a:bodyPr/>
          <a:lstStyle/>
          <a:p>
            <a:pPr eaLnBrk="1" hangingPunct="1">
              <a:defRPr/>
            </a:pPr>
            <a:r>
              <a:rPr lang="ga-IE" dirty="0" smtClean="0">
                <a:latin typeface="Times New Roman" pitchFamily="18" charset="0"/>
                <a:cs typeface="Times New Roman" pitchFamily="18" charset="0"/>
              </a:rPr>
              <a:t>Cannot be touched, cannot test service before experiencing it.</a:t>
            </a:r>
          </a:p>
          <a:p>
            <a:pPr eaLnBrk="1" hangingPunct="1">
              <a:defRPr/>
            </a:pPr>
            <a:r>
              <a:rPr lang="ga-IE" dirty="0" smtClean="0">
                <a:latin typeface="Times New Roman" pitchFamily="18" charset="0"/>
                <a:cs typeface="Times New Roman" pitchFamily="18" charset="0"/>
              </a:rPr>
              <a:t>Cannot be inspected by prospective purchasers before they purhase</a:t>
            </a:r>
          </a:p>
          <a:p>
            <a:pPr eaLnBrk="1" hangingPunct="1">
              <a:defRPr/>
            </a:pPr>
            <a:r>
              <a:rPr lang="ga-IE" dirty="0" smtClean="0">
                <a:latin typeface="Times New Roman" pitchFamily="18" charset="0"/>
                <a:cs typeface="Times New Roman" pitchFamily="18" charset="0"/>
              </a:rPr>
              <a:t>You can just feel</a:t>
            </a:r>
          </a:p>
          <a:p>
            <a:pPr eaLnBrk="1" hangingPunct="1">
              <a:defRPr/>
            </a:pPr>
            <a:r>
              <a:rPr lang="ga-IE" dirty="0" smtClean="0">
                <a:latin typeface="Times New Roman" pitchFamily="18" charset="0"/>
                <a:cs typeface="Times New Roman" pitchFamily="18" charset="0"/>
              </a:rPr>
              <a:t>Given in the form of service, atmosphere and hospitality</a:t>
            </a:r>
          </a:p>
          <a:p>
            <a:pPr eaLnBrk="1" hangingPunct="1">
              <a:buFont typeface="Wingdings" pitchFamily="2" charset="2"/>
              <a:buNone/>
              <a:defRPr/>
            </a:pPr>
            <a:endParaRPr lang="ga-IE" dirty="0" smtClean="0"/>
          </a:p>
          <a:p>
            <a:pPr eaLnBrk="1" hangingPunct="1">
              <a:defRPr/>
            </a:pPr>
            <a:endParaRPr lang="ga-IE" dirty="0" smtClean="0"/>
          </a:p>
          <a:p>
            <a:pPr eaLnBrk="1" hangingPunct="1">
              <a:defRPr/>
            </a:pPr>
            <a:endParaRPr lang="en-GB"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a:pPr>
            <a:r>
              <a:rPr lang="en-US" dirty="0" smtClean="0">
                <a:latin typeface="Times New Roman" pitchFamily="18" charset="0"/>
                <a:cs typeface="Times New Roman" pitchFamily="18" charset="0"/>
              </a:rPr>
              <a:t>Intangible Example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2133600"/>
            <a:ext cx="7239000" cy="4322136"/>
          </a:xfrm>
        </p:spPr>
        <p:txBody>
          <a:bodyPr/>
          <a:lstStyle/>
          <a:p>
            <a:pPr>
              <a:defRPr/>
            </a:pPr>
            <a:r>
              <a:rPr lang="en-US" dirty="0" smtClean="0">
                <a:latin typeface="Times New Roman" pitchFamily="18" charset="0"/>
                <a:cs typeface="Times New Roman" pitchFamily="18" charset="0"/>
              </a:rPr>
              <a:t>The person booking a room for the first time does not know the service he/she will actually receive until it is received. People will infer quality from the people, place, equipment, communication material, symbols and price that they see</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rrowheads="1"/>
          </p:cNvSpPr>
          <p:nvPr>
            <p:ph type="title"/>
          </p:nvPr>
        </p:nvSpPr>
        <p:spPr/>
        <p:txBody>
          <a:bodyPr>
            <a:normAutofit/>
          </a:bodyPr>
          <a:lstStyle/>
          <a:p>
            <a:pPr algn="ctr" eaLnBrk="1" hangingPunct="1">
              <a:defRPr/>
            </a:pPr>
            <a:r>
              <a:rPr lang="en-US" dirty="0" smtClean="0">
                <a:latin typeface="Times New Roman" pitchFamily="18" charset="0"/>
                <a:cs typeface="Times New Roman" pitchFamily="18" charset="0"/>
              </a:rPr>
              <a:t>VARIABILITY</a:t>
            </a:r>
            <a:endParaRPr lang="en-GB" dirty="0" smtClean="0">
              <a:latin typeface="Times New Roman" pitchFamily="18" charset="0"/>
              <a:cs typeface="Times New Roman" pitchFamily="18" charset="0"/>
            </a:endParaRPr>
          </a:p>
        </p:txBody>
      </p:sp>
      <p:sp>
        <p:nvSpPr>
          <p:cNvPr id="15363" name="Rectangle 3"/>
          <p:cNvSpPr>
            <a:spLocks noGrp="1" noChangeArrowheads="1"/>
          </p:cNvSpPr>
          <p:nvPr>
            <p:ph idx="1"/>
          </p:nvPr>
        </p:nvSpPr>
        <p:spPr/>
        <p:txBody>
          <a:bodyPr/>
          <a:lstStyle/>
          <a:p>
            <a:pPr eaLnBrk="1" hangingPunct="1">
              <a:defRPr/>
            </a:pPr>
            <a:r>
              <a:rPr lang="ga-IE" sz="2800" dirty="0" smtClean="0">
                <a:latin typeface="Times New Roman" pitchFamily="18" charset="0"/>
                <a:cs typeface="Times New Roman" pitchFamily="18" charset="0"/>
              </a:rPr>
              <a:t>Vary in standard</a:t>
            </a:r>
          </a:p>
          <a:p>
            <a:pPr eaLnBrk="1" hangingPunct="1">
              <a:defRPr/>
            </a:pPr>
            <a:r>
              <a:rPr lang="ga-IE" sz="2800" dirty="0" smtClean="0">
                <a:latin typeface="Times New Roman" pitchFamily="18" charset="0"/>
                <a:cs typeface="Times New Roman" pitchFamily="18" charset="0"/>
              </a:rPr>
              <a:t>Vary in quality over time and under different circumstances</a:t>
            </a:r>
          </a:p>
          <a:p>
            <a:pPr eaLnBrk="1" hangingPunct="1">
              <a:defRPr/>
            </a:pPr>
            <a:r>
              <a:rPr lang="ga-IE" sz="2800" dirty="0" smtClean="0">
                <a:latin typeface="Times New Roman" pitchFamily="18" charset="0"/>
                <a:cs typeface="Times New Roman" pitchFamily="18" charset="0"/>
              </a:rPr>
              <a:t>Not consistently uniformed, for example a package tour or even a flight on an aircraft cannot be consistently uniformed; a bumpy flight or a long technical delay can change an enjoyable experience into a nightmare, a hoilday at a seaside can be ruied by a prolonged rainy situation.</a:t>
            </a:r>
          </a:p>
          <a:p>
            <a:pPr eaLnBrk="1" hangingPunct="1">
              <a:defRPr/>
            </a:pPr>
            <a:endParaRPr lang="ga-IE" sz="2800" dirty="0" smtClean="0"/>
          </a:p>
          <a:p>
            <a:pPr eaLnBrk="1" hangingPunct="1">
              <a:defRPr/>
            </a:pPr>
            <a:endParaRPr lang="en-GB" sz="2800"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01762"/>
          </a:xfrm>
        </p:spPr>
        <p:txBody>
          <a:bodyPr>
            <a:normAutofit/>
          </a:bodyPr>
          <a:lstStyle/>
          <a:p>
            <a:pPr algn="ctr">
              <a:defRPr/>
            </a:pPr>
            <a:r>
              <a:rPr lang="en-US" sz="3600" dirty="0" smtClean="0">
                <a:latin typeface="Times New Roman" pitchFamily="18" charset="0"/>
                <a:cs typeface="Times New Roman" pitchFamily="18" charset="0"/>
              </a:rPr>
              <a:t>Variability</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Example</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2362200"/>
            <a:ext cx="8229600" cy="3763963"/>
          </a:xfrm>
        </p:spPr>
        <p:txBody>
          <a:bodyPr/>
          <a:lstStyle/>
          <a:p>
            <a:pPr>
              <a:defRPr/>
            </a:pPr>
            <a:r>
              <a:rPr lang="en-US" dirty="0" smtClean="0">
                <a:latin typeface="Times New Roman" pitchFamily="18" charset="0"/>
                <a:cs typeface="Times New Roman" pitchFamily="18" charset="0"/>
              </a:rPr>
              <a:t>Because services depend on who provides them, and when and where they are provided, services are highly variable</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Inseparability</a:t>
            </a:r>
            <a:endParaRPr lang="en-GB" dirty="0" smtClean="0">
              <a:latin typeface="Times New Roman" pitchFamily="18" charset="0"/>
              <a:cs typeface="Times New Roman" pitchFamily="18" charset="0"/>
            </a:endParaRPr>
          </a:p>
        </p:txBody>
      </p:sp>
      <p:sp>
        <p:nvSpPr>
          <p:cNvPr id="17411" name="Rectangle 3"/>
          <p:cNvSpPr>
            <a:spLocks noGrp="1" noChangeArrowheads="1"/>
          </p:cNvSpPr>
          <p:nvPr>
            <p:ph idx="1"/>
          </p:nvPr>
        </p:nvSpPr>
        <p:spPr>
          <a:xfrm>
            <a:off x="457200" y="2133600"/>
            <a:ext cx="7239000" cy="4322136"/>
          </a:xfrm>
        </p:spPr>
        <p:txBody>
          <a:bodyPr/>
          <a:lstStyle/>
          <a:p>
            <a:pPr eaLnBrk="1" hangingPunct="1">
              <a:defRPr/>
            </a:pPr>
            <a:r>
              <a:rPr lang="ga-IE" dirty="0" smtClean="0">
                <a:latin typeface="Times New Roman" pitchFamily="18" charset="0"/>
                <a:cs typeface="Times New Roman" pitchFamily="18" charset="0"/>
              </a:rPr>
              <a:t>Customers cannot be separated from the product</a:t>
            </a:r>
          </a:p>
          <a:p>
            <a:pPr eaLnBrk="1" hangingPunct="1">
              <a:defRPr/>
            </a:pPr>
            <a:r>
              <a:rPr lang="ga-IE" dirty="0" smtClean="0">
                <a:latin typeface="Times New Roman" pitchFamily="18" charset="0"/>
                <a:cs typeface="Times New Roman" pitchFamily="18" charset="0"/>
              </a:rPr>
              <a:t>Product cannot be brought to the customer, customers must be brought to the product.</a:t>
            </a:r>
          </a:p>
          <a:p>
            <a:pPr eaLnBrk="1" hangingPunct="1">
              <a:defRPr/>
            </a:pPr>
            <a:r>
              <a:rPr lang="ga-IE" dirty="0" smtClean="0">
                <a:latin typeface="Times New Roman" pitchFamily="18" charset="0"/>
                <a:cs typeface="Times New Roman" pitchFamily="18" charset="0"/>
              </a:rPr>
              <a:t>Place of production and consumption</a:t>
            </a:r>
            <a:endParaRPr lang="en-GB"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defRPr/>
            </a:pPr>
            <a:r>
              <a:rPr lang="en-US" dirty="0" smtClean="0">
                <a:latin typeface="Times New Roman" pitchFamily="18" charset="0"/>
                <a:cs typeface="Times New Roman" pitchFamily="18" charset="0"/>
              </a:rPr>
              <a:t>Inseparability</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Example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2057400"/>
            <a:ext cx="7239000" cy="4398336"/>
          </a:xfrm>
        </p:spPr>
        <p:txBody>
          <a:bodyPr/>
          <a:lstStyle/>
          <a:p>
            <a:pPr>
              <a:defRPr/>
            </a:pPr>
            <a:r>
              <a:rPr lang="en-US" dirty="0" smtClean="0">
                <a:latin typeface="Times New Roman" pitchFamily="18" charset="0"/>
                <a:cs typeface="Times New Roman" pitchFamily="18" charset="0"/>
              </a:rPr>
              <a:t>Services are typically produced and consumed simultaneously. If a person renders the service then the provider is part of the service. Because the customer is present when the service is produced ,the client-provider interaction is a special feature of service marketing</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Perishability</a:t>
            </a:r>
            <a:endParaRPr lang="en-GB" dirty="0" smtClean="0">
              <a:latin typeface="Times New Roman" pitchFamily="18" charset="0"/>
              <a:cs typeface="Times New Roman" pitchFamily="18" charset="0"/>
            </a:endParaRPr>
          </a:p>
        </p:txBody>
      </p:sp>
      <p:sp>
        <p:nvSpPr>
          <p:cNvPr id="19459" name="Rectangle 3"/>
          <p:cNvSpPr>
            <a:spLocks noGrp="1" noChangeArrowheads="1"/>
          </p:cNvSpPr>
          <p:nvPr>
            <p:ph idx="1"/>
          </p:nvPr>
        </p:nvSpPr>
        <p:spPr>
          <a:xfrm>
            <a:off x="457200" y="1828800"/>
            <a:ext cx="7239000" cy="4626936"/>
          </a:xfrm>
        </p:spPr>
        <p:txBody>
          <a:bodyPr/>
          <a:lstStyle/>
          <a:p>
            <a:pPr eaLnBrk="1" hangingPunct="1">
              <a:defRPr/>
            </a:pPr>
            <a:r>
              <a:rPr lang="ga-IE" dirty="0" smtClean="0">
                <a:latin typeface="Times New Roman" pitchFamily="18" charset="0"/>
                <a:cs typeface="Times New Roman" pitchFamily="18" charset="0"/>
              </a:rPr>
              <a:t>Products cannot be stocked</a:t>
            </a:r>
          </a:p>
          <a:p>
            <a:pPr eaLnBrk="1" hangingPunct="1">
              <a:defRPr/>
            </a:pPr>
            <a:r>
              <a:rPr lang="ga-IE" dirty="0" smtClean="0">
                <a:latin typeface="Times New Roman" pitchFamily="18" charset="0"/>
                <a:cs typeface="Times New Roman" pitchFamily="18" charset="0"/>
              </a:rPr>
              <a:t>If not used up, leads to revenue loss</a:t>
            </a:r>
          </a:p>
          <a:p>
            <a:pPr eaLnBrk="1" hangingPunct="1">
              <a:defRPr/>
            </a:pPr>
            <a:r>
              <a:rPr lang="ga-IE" dirty="0" smtClean="0">
                <a:latin typeface="Times New Roman" pitchFamily="18" charset="0"/>
                <a:cs typeface="Times New Roman" pitchFamily="18" charset="0"/>
              </a:rPr>
              <a:t>For example 1800 rooms are available , however 800 rooms were sold, what is it that we do with the unsold 1000 rooms? Nothing ! </a:t>
            </a:r>
          </a:p>
          <a:p>
            <a:pPr eaLnBrk="1" hangingPunct="1">
              <a:defRPr/>
            </a:pPr>
            <a:r>
              <a:rPr lang="ga-IE" dirty="0" smtClean="0">
                <a:latin typeface="Times New Roman" pitchFamily="18" charset="0"/>
                <a:cs typeface="Times New Roman" pitchFamily="18" charset="0"/>
              </a:rPr>
              <a:t>There is a permanent loss of 1000 rooms.</a:t>
            </a:r>
            <a:endParaRPr lang="en-GB"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defRPr/>
            </a:pPr>
            <a:r>
              <a:rPr lang="ga-IE" dirty="0" smtClean="0">
                <a:latin typeface="Times New Roman" pitchFamily="18" charset="0"/>
                <a:cs typeface="Times New Roman" pitchFamily="18" charset="0"/>
              </a:rPr>
              <a:t>Perishability</a:t>
            </a:r>
            <a:r>
              <a:rPr lang="en-US" dirty="0" smtClean="0"/>
              <a:t/>
            </a:r>
            <a:br>
              <a:rPr lang="en-US" dirty="0" smtClean="0"/>
            </a:br>
            <a:r>
              <a:rPr lang="en-US" dirty="0" smtClean="0"/>
              <a:t>Example</a:t>
            </a:r>
            <a:endParaRPr lang="en-US" dirty="0"/>
          </a:p>
        </p:txBody>
      </p:sp>
      <p:sp>
        <p:nvSpPr>
          <p:cNvPr id="3" name="Content Placeholder 2"/>
          <p:cNvSpPr>
            <a:spLocks noGrp="1"/>
          </p:cNvSpPr>
          <p:nvPr>
            <p:ph idx="1"/>
          </p:nvPr>
        </p:nvSpPr>
        <p:spPr>
          <a:xfrm>
            <a:off x="457200" y="2209800"/>
            <a:ext cx="7239000" cy="4245936"/>
          </a:xfrm>
        </p:spPr>
        <p:txBody>
          <a:bodyPr/>
          <a:lstStyle/>
          <a:p>
            <a:pPr>
              <a:defRPr/>
            </a:pPr>
            <a:r>
              <a:rPr lang="en-US" dirty="0" smtClean="0">
                <a:latin typeface="Times New Roman" pitchFamily="18" charset="0"/>
                <a:cs typeface="Times New Roman" pitchFamily="18" charset="0"/>
              </a:rPr>
              <a:t>Services cannot be stored, once a flight takes off, any unsold seats cannot be held for future sales. However, firms do not have to readily deal with this issue if demand for the service is steady.</a:t>
            </a:r>
            <a:endParaRPr lang="en-US"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rrowheads="1"/>
          </p:cNvSpPr>
          <p:nvPr>
            <p:ph type="title"/>
          </p:nvPr>
        </p:nvSpPr>
        <p:spPr/>
        <p:txBody>
          <a:bodyPr/>
          <a:lstStyle/>
          <a:p>
            <a:pPr algn="ctr" eaLnBrk="1" hangingPunct="1">
              <a:defRPr/>
            </a:pPr>
            <a:r>
              <a:rPr lang="ga-IE" dirty="0" smtClean="0"/>
              <a:t>Motivation	</a:t>
            </a:r>
            <a:endParaRPr lang="en-GB" dirty="0" smtClean="0"/>
          </a:p>
        </p:txBody>
      </p:sp>
      <p:sp>
        <p:nvSpPr>
          <p:cNvPr id="64515" name="Rectangle 3"/>
          <p:cNvSpPr>
            <a:spLocks noGrp="1" noChangeArrowheads="1"/>
          </p:cNvSpPr>
          <p:nvPr>
            <p:ph idx="1"/>
          </p:nvPr>
        </p:nvSpPr>
        <p:spPr>
          <a:xfrm>
            <a:off x="457200" y="2133600"/>
            <a:ext cx="7239000" cy="4322136"/>
          </a:xfrm>
        </p:spPr>
        <p:txBody>
          <a:bodyPr/>
          <a:lstStyle/>
          <a:p>
            <a:pPr eaLnBrk="1" hangingPunct="1">
              <a:defRPr/>
            </a:pPr>
            <a:r>
              <a:rPr lang="ga-IE" dirty="0" smtClean="0">
                <a:latin typeface="Times New Roman" pitchFamily="18" charset="0"/>
                <a:cs typeface="Times New Roman" pitchFamily="18" charset="0"/>
              </a:rPr>
              <a:t>Motivation arises out of the felt wants or needs of an idividual.</a:t>
            </a:r>
          </a:p>
          <a:p>
            <a:pPr eaLnBrk="1" hangingPunct="1">
              <a:buFont typeface="Wingdings" pitchFamily="2" charset="2"/>
              <a:buNone/>
              <a:defRPr/>
            </a:pPr>
            <a:endParaRPr lang="en-GB"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The Motivation for a Trip</a:t>
            </a:r>
            <a:endParaRPr lang="en-GB" dirty="0" smtClean="0">
              <a:latin typeface="Times New Roman" pitchFamily="18" charset="0"/>
              <a:cs typeface="Times New Roman" pitchFamily="18" charset="0"/>
            </a:endParaRPr>
          </a:p>
        </p:txBody>
      </p:sp>
      <p:sp>
        <p:nvSpPr>
          <p:cNvPr id="21507" name="Rectangle 3"/>
          <p:cNvSpPr>
            <a:spLocks noGrp="1" noChangeArrowheads="1"/>
          </p:cNvSpPr>
          <p:nvPr>
            <p:ph idx="1"/>
          </p:nvPr>
        </p:nvSpPr>
        <p:spPr/>
        <p:txBody>
          <a:bodyPr/>
          <a:lstStyle/>
          <a:p>
            <a:pPr eaLnBrk="1" hangingPunct="1">
              <a:defRPr/>
            </a:pPr>
            <a:r>
              <a:rPr lang="ga-IE" dirty="0" smtClean="0"/>
              <a:t>Motivation identifies first the purpose of a visit.</a:t>
            </a:r>
          </a:p>
          <a:p>
            <a:pPr eaLnBrk="1" hangingPunct="1">
              <a:defRPr/>
            </a:pPr>
            <a:r>
              <a:rPr lang="ga-IE" dirty="0" smtClean="0"/>
              <a:t>Leisure: Holidays ( visits to friends, relatives i.e VFR travel)</a:t>
            </a:r>
          </a:p>
          <a:p>
            <a:pPr eaLnBrk="1" hangingPunct="1">
              <a:defRPr/>
            </a:pPr>
            <a:r>
              <a:rPr lang="ga-IE" dirty="0" smtClean="0"/>
              <a:t>Business ( meetings, conferences etc.)</a:t>
            </a:r>
          </a:p>
          <a:p>
            <a:pPr eaLnBrk="1" hangingPunct="1">
              <a:defRPr/>
            </a:pPr>
            <a:r>
              <a:rPr lang="ga-IE" dirty="0" smtClean="0"/>
              <a:t>Other ( education, religious pilgrimages, sport, health etc.)</a:t>
            </a:r>
            <a:endParaRPr lang="en-US" dirty="0" smtClean="0"/>
          </a:p>
          <a:p>
            <a:pPr eaLnBrk="1" hangingPunct="1">
              <a:defRPr/>
            </a:pPr>
            <a:r>
              <a:rPr lang="en-US" dirty="0" smtClean="0"/>
              <a:t>Emergencies (Special cases such as a death in the family.</a:t>
            </a:r>
            <a:endParaRPr lang="en-GB"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rrowheads="1"/>
          </p:cNvSpPr>
          <p:nvPr>
            <p:ph type="title"/>
          </p:nvPr>
        </p:nvSpPr>
        <p:spPr/>
        <p:txBody>
          <a:bodyPr/>
          <a:lstStyle/>
          <a:p>
            <a:pPr algn="ctr" eaLnBrk="1" hangingPunct="1">
              <a:defRPr/>
            </a:pPr>
            <a:r>
              <a:rPr lang="en-US" dirty="0" smtClean="0">
                <a:latin typeface="Times New Roman" pitchFamily="18" charset="0"/>
                <a:cs typeface="Times New Roman" pitchFamily="18" charset="0"/>
              </a:rPr>
              <a:t>QUESTION</a:t>
            </a:r>
            <a:endParaRPr lang="en-GB" dirty="0" smtClean="0">
              <a:latin typeface="Times New Roman" pitchFamily="18" charset="0"/>
              <a:cs typeface="Times New Roman" pitchFamily="18" charset="0"/>
            </a:endParaRPr>
          </a:p>
        </p:txBody>
      </p:sp>
      <p:sp>
        <p:nvSpPr>
          <p:cNvPr id="23555" name="Rectangle 3"/>
          <p:cNvSpPr>
            <a:spLocks noGrp="1" noChangeArrowheads="1"/>
          </p:cNvSpPr>
          <p:nvPr>
            <p:ph idx="1"/>
          </p:nvPr>
        </p:nvSpPr>
        <p:spPr>
          <a:xfrm>
            <a:off x="457200" y="1981200"/>
            <a:ext cx="7239000" cy="4474536"/>
          </a:xfrm>
        </p:spPr>
        <p:txBody>
          <a:bodyPr/>
          <a:lstStyle/>
          <a:p>
            <a:pPr eaLnBrk="1" hangingPunct="1">
              <a:defRPr/>
            </a:pPr>
            <a:endParaRPr lang="ga-IE" dirty="0" smtClean="0">
              <a:latin typeface="Times New Roman" pitchFamily="18" charset="0"/>
              <a:cs typeface="Times New Roman" pitchFamily="18" charset="0"/>
            </a:endParaRPr>
          </a:p>
          <a:p>
            <a:pPr eaLnBrk="1" hangingPunct="1">
              <a:defRPr/>
            </a:pPr>
            <a:r>
              <a:rPr lang="ga-IE" dirty="0" smtClean="0">
                <a:latin typeface="Times New Roman" pitchFamily="18" charset="0"/>
                <a:cs typeface="Times New Roman" pitchFamily="18" charset="0"/>
              </a:rPr>
              <a:t>How does business travel differ from leisure travel?</a:t>
            </a:r>
          </a:p>
          <a:p>
            <a:pPr eaLnBrk="1" hangingPunct="1">
              <a:defRPr/>
            </a:pPr>
            <a:endParaRPr lang="en-GB"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Answer</a:t>
            </a:r>
            <a:endParaRPr lang="en-GB" dirty="0" smtClean="0">
              <a:latin typeface="Times New Roman" pitchFamily="18" charset="0"/>
              <a:cs typeface="Times New Roman" pitchFamily="18" charset="0"/>
            </a:endParaRPr>
          </a:p>
        </p:txBody>
      </p:sp>
      <p:sp>
        <p:nvSpPr>
          <p:cNvPr id="25603" name="Rectangle 3"/>
          <p:cNvSpPr>
            <a:spLocks noGrp="1" noChangeArrowheads="1"/>
          </p:cNvSpPr>
          <p:nvPr>
            <p:ph idx="1"/>
          </p:nvPr>
        </p:nvSpPr>
        <p:spPr>
          <a:xfrm>
            <a:off x="457200" y="1752600"/>
            <a:ext cx="7239000" cy="4703136"/>
          </a:xfrm>
        </p:spPr>
        <p:txBody>
          <a:bodyPr/>
          <a:lstStyle/>
          <a:p>
            <a:pPr eaLnBrk="1" hangingPunct="1">
              <a:lnSpc>
                <a:spcPct val="90000"/>
              </a:lnSpc>
              <a:defRPr/>
            </a:pPr>
            <a:r>
              <a:rPr lang="en-US" dirty="0" smtClean="0">
                <a:latin typeface="Times New Roman" pitchFamily="18" charset="0"/>
                <a:cs typeface="Times New Roman" pitchFamily="18" charset="0"/>
              </a:rPr>
              <a:t> </a:t>
            </a:r>
            <a:r>
              <a:rPr lang="ga-IE" dirty="0" smtClean="0">
                <a:latin typeface="Times New Roman" pitchFamily="18" charset="0"/>
                <a:cs typeface="Times New Roman" pitchFamily="18" charset="0"/>
              </a:rPr>
              <a:t> little discretion on choice of destination and timing of trip</a:t>
            </a:r>
          </a:p>
          <a:p>
            <a:pPr eaLnBrk="1" hangingPunct="1">
              <a:lnSpc>
                <a:spcPct val="90000"/>
              </a:lnSpc>
              <a:defRPr/>
            </a:pPr>
            <a:r>
              <a:rPr lang="ga-IE" dirty="0" smtClean="0">
                <a:latin typeface="Times New Roman" pitchFamily="18" charset="0"/>
                <a:cs typeface="Times New Roman" pitchFamily="18" charset="0"/>
              </a:rPr>
              <a:t>Business trips arranged on short notice and for specific periods of time, hence buisness travlers needs the convenience of frequent regular transport, efficient service and good facilities.</a:t>
            </a:r>
          </a:p>
          <a:p>
            <a:pPr eaLnBrk="1" hangingPunct="1">
              <a:lnSpc>
                <a:spcPct val="90000"/>
              </a:lnSpc>
              <a:defRPr/>
            </a:pPr>
            <a:r>
              <a:rPr lang="ga-IE" dirty="0" smtClean="0">
                <a:latin typeface="Times New Roman" pitchFamily="18" charset="0"/>
                <a:cs typeface="Times New Roman" pitchFamily="18" charset="0"/>
              </a:rPr>
              <a:t>Less concerned with cost of travel</a:t>
            </a:r>
          </a:p>
          <a:p>
            <a:pPr eaLnBrk="1" hangingPunct="1">
              <a:lnSpc>
                <a:spcPct val="90000"/>
              </a:lnSpc>
              <a:defRPr/>
            </a:pPr>
            <a:r>
              <a:rPr lang="ga-IE" dirty="0" smtClean="0">
                <a:latin typeface="Times New Roman" pitchFamily="18" charset="0"/>
                <a:cs typeface="Times New Roman" pitchFamily="18" charset="0"/>
              </a:rPr>
              <a:t>Higher or less price of travel does not deter business travel. ( Price inelastic)</a:t>
            </a:r>
          </a:p>
          <a:p>
            <a:pPr eaLnBrk="1" hangingPunct="1">
              <a:lnSpc>
                <a:spcPct val="90000"/>
              </a:lnSpc>
              <a:defRPr/>
            </a:pPr>
            <a:endParaRPr lang="en-GB"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Answer</a:t>
            </a:r>
            <a:endParaRPr lang="en-GB" dirty="0" smtClean="0">
              <a:latin typeface="Times New Roman" pitchFamily="18" charset="0"/>
              <a:cs typeface="Times New Roman" pitchFamily="18" charset="0"/>
            </a:endParaRPr>
          </a:p>
        </p:txBody>
      </p:sp>
      <p:sp>
        <p:nvSpPr>
          <p:cNvPr id="27651" name="Rectangle 3"/>
          <p:cNvSpPr>
            <a:spLocks noGrp="1" noChangeArrowheads="1"/>
          </p:cNvSpPr>
          <p:nvPr>
            <p:ph idx="1"/>
          </p:nvPr>
        </p:nvSpPr>
        <p:spPr>
          <a:xfrm>
            <a:off x="457200" y="2133600"/>
            <a:ext cx="7239000" cy="4322136"/>
          </a:xfrm>
        </p:spPr>
        <p:txBody>
          <a:bodyPr/>
          <a:lstStyle/>
          <a:p>
            <a:pPr eaLnBrk="1" hangingPunct="1">
              <a:defRPr/>
            </a:pPr>
            <a:r>
              <a:rPr lang="ga-IE" dirty="0" smtClean="0">
                <a:latin typeface="Times New Roman" pitchFamily="18" charset="0"/>
                <a:cs typeface="Times New Roman" pitchFamily="18" charset="0"/>
              </a:rPr>
              <a:t>Hoilday travlers in comparison to business travelers are more price elastic, lower prices for holidays leads to more guests travelling</a:t>
            </a:r>
            <a:endParaRPr lang="en-GB"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rrowheads="1"/>
          </p:cNvSpPr>
          <p:nvPr>
            <p:ph type="title"/>
          </p:nvPr>
        </p:nvSpPr>
        <p:spPr>
          <a:xfrm>
            <a:off x="457200" y="320040"/>
            <a:ext cx="7239000" cy="975360"/>
          </a:xfrm>
        </p:spPr>
        <p:txBody>
          <a:bodyPr>
            <a:normAutofit fontScale="90000"/>
          </a:bodyPr>
          <a:lstStyle/>
          <a:p>
            <a:pPr algn="ctr" eaLnBrk="1" hangingPunct="1">
              <a:defRPr/>
            </a:pPr>
            <a:r>
              <a:rPr lang="ga-IE" dirty="0" smtClean="0">
                <a:latin typeface="Times New Roman" pitchFamily="18" charset="0"/>
                <a:cs typeface="Times New Roman" pitchFamily="18" charset="0"/>
              </a:rPr>
              <a:t>Why People Tavel ( Purpose)</a:t>
            </a:r>
            <a:endParaRPr lang="en-GB" dirty="0" smtClean="0">
              <a:latin typeface="Times New Roman" pitchFamily="18" charset="0"/>
              <a:cs typeface="Times New Roman" pitchFamily="18" charset="0"/>
            </a:endParaRPr>
          </a:p>
        </p:txBody>
      </p:sp>
      <p:sp>
        <p:nvSpPr>
          <p:cNvPr id="29699" name="Rectangle 3"/>
          <p:cNvSpPr>
            <a:spLocks noGrp="1" noChangeArrowheads="1"/>
          </p:cNvSpPr>
          <p:nvPr>
            <p:ph idx="1"/>
          </p:nvPr>
        </p:nvSpPr>
        <p:spPr/>
        <p:txBody>
          <a:bodyPr/>
          <a:lstStyle/>
          <a:p>
            <a:pPr eaLnBrk="1" hangingPunct="1">
              <a:lnSpc>
                <a:spcPct val="80000"/>
              </a:lnSpc>
              <a:defRPr/>
            </a:pPr>
            <a:r>
              <a:rPr lang="ga-IE" sz="2000" dirty="0" smtClean="0">
                <a:latin typeface="Times New Roman" pitchFamily="18" charset="0"/>
                <a:cs typeface="Times New Roman" pitchFamily="18" charset="0"/>
              </a:rPr>
              <a:t>Visiting friends and relatives</a:t>
            </a:r>
          </a:p>
          <a:p>
            <a:pPr eaLnBrk="1" hangingPunct="1">
              <a:lnSpc>
                <a:spcPct val="80000"/>
              </a:lnSpc>
              <a:defRPr/>
            </a:pPr>
            <a:r>
              <a:rPr lang="ga-IE" sz="2000" dirty="0" smtClean="0">
                <a:latin typeface="Times New Roman" pitchFamily="18" charset="0"/>
                <a:cs typeface="Times New Roman" pitchFamily="18" charset="0"/>
              </a:rPr>
              <a:t>Health</a:t>
            </a:r>
          </a:p>
          <a:p>
            <a:pPr eaLnBrk="1" hangingPunct="1">
              <a:lnSpc>
                <a:spcPct val="80000"/>
              </a:lnSpc>
              <a:defRPr/>
            </a:pPr>
            <a:r>
              <a:rPr lang="ga-IE" sz="2000" dirty="0" smtClean="0">
                <a:latin typeface="Times New Roman" pitchFamily="18" charset="0"/>
                <a:cs typeface="Times New Roman" pitchFamily="18" charset="0"/>
              </a:rPr>
              <a:t>Education</a:t>
            </a:r>
          </a:p>
          <a:p>
            <a:pPr eaLnBrk="1" hangingPunct="1">
              <a:lnSpc>
                <a:spcPct val="80000"/>
              </a:lnSpc>
              <a:defRPr/>
            </a:pPr>
            <a:r>
              <a:rPr lang="ga-IE" sz="2000" dirty="0" smtClean="0">
                <a:latin typeface="Times New Roman" pitchFamily="18" charset="0"/>
                <a:cs typeface="Times New Roman" pitchFamily="18" charset="0"/>
              </a:rPr>
              <a:t>Beauty, nature and national parks</a:t>
            </a:r>
          </a:p>
          <a:p>
            <a:pPr eaLnBrk="1" hangingPunct="1">
              <a:lnSpc>
                <a:spcPct val="80000"/>
              </a:lnSpc>
              <a:defRPr/>
            </a:pPr>
            <a:r>
              <a:rPr lang="ga-IE" sz="2000" dirty="0" smtClean="0">
                <a:latin typeface="Times New Roman" pitchFamily="18" charset="0"/>
                <a:cs typeface="Times New Roman" pitchFamily="18" charset="0"/>
              </a:rPr>
              <a:t>Religion</a:t>
            </a:r>
          </a:p>
          <a:p>
            <a:pPr eaLnBrk="1" hangingPunct="1">
              <a:lnSpc>
                <a:spcPct val="80000"/>
              </a:lnSpc>
              <a:defRPr/>
            </a:pPr>
            <a:r>
              <a:rPr lang="ga-IE" sz="2000" dirty="0" smtClean="0">
                <a:latin typeface="Times New Roman" pitchFamily="18" charset="0"/>
                <a:cs typeface="Times New Roman" pitchFamily="18" charset="0"/>
              </a:rPr>
              <a:t>Indulgence</a:t>
            </a:r>
          </a:p>
          <a:p>
            <a:pPr eaLnBrk="1" hangingPunct="1">
              <a:lnSpc>
                <a:spcPct val="80000"/>
              </a:lnSpc>
              <a:defRPr/>
            </a:pPr>
            <a:r>
              <a:rPr lang="ga-IE" sz="2000" dirty="0" smtClean="0">
                <a:latin typeface="Times New Roman" pitchFamily="18" charset="0"/>
                <a:cs typeface="Times New Roman" pitchFamily="18" charset="0"/>
              </a:rPr>
              <a:t>Sports</a:t>
            </a:r>
          </a:p>
          <a:p>
            <a:pPr eaLnBrk="1" hangingPunct="1">
              <a:lnSpc>
                <a:spcPct val="80000"/>
              </a:lnSpc>
              <a:defRPr/>
            </a:pPr>
            <a:r>
              <a:rPr lang="ga-IE" sz="2000" dirty="0" smtClean="0">
                <a:latin typeface="Times New Roman" pitchFamily="18" charset="0"/>
                <a:cs typeface="Times New Roman" pitchFamily="18" charset="0"/>
              </a:rPr>
              <a:t>Festivals</a:t>
            </a:r>
          </a:p>
          <a:p>
            <a:pPr eaLnBrk="1" hangingPunct="1">
              <a:lnSpc>
                <a:spcPct val="80000"/>
              </a:lnSpc>
              <a:defRPr/>
            </a:pPr>
            <a:r>
              <a:rPr lang="ga-IE" sz="2000" dirty="0" smtClean="0">
                <a:latin typeface="Times New Roman" pitchFamily="18" charset="0"/>
                <a:cs typeface="Times New Roman" pitchFamily="18" charset="0"/>
              </a:rPr>
              <a:t>Adventure</a:t>
            </a:r>
          </a:p>
          <a:p>
            <a:pPr eaLnBrk="1" hangingPunct="1">
              <a:lnSpc>
                <a:spcPct val="80000"/>
              </a:lnSpc>
              <a:defRPr/>
            </a:pPr>
            <a:r>
              <a:rPr lang="ga-IE" sz="2000" dirty="0" smtClean="0">
                <a:latin typeface="Times New Roman" pitchFamily="18" charset="0"/>
                <a:cs typeface="Times New Roman" pitchFamily="18" charset="0"/>
              </a:rPr>
              <a:t>Heritage</a:t>
            </a:r>
          </a:p>
          <a:p>
            <a:pPr eaLnBrk="1" hangingPunct="1">
              <a:lnSpc>
                <a:spcPct val="80000"/>
              </a:lnSpc>
              <a:defRPr/>
            </a:pPr>
            <a:r>
              <a:rPr lang="ga-IE" sz="2000" dirty="0" smtClean="0">
                <a:latin typeface="Times New Roman" pitchFamily="18" charset="0"/>
                <a:cs typeface="Times New Roman" pitchFamily="18" charset="0"/>
              </a:rPr>
              <a:t>Ecotourism</a:t>
            </a:r>
          </a:p>
          <a:p>
            <a:pPr eaLnBrk="1" hangingPunct="1">
              <a:lnSpc>
                <a:spcPct val="80000"/>
              </a:lnSpc>
              <a:defRPr/>
            </a:pPr>
            <a:r>
              <a:rPr lang="ga-IE" sz="2000" dirty="0" smtClean="0">
                <a:latin typeface="Times New Roman" pitchFamily="18" charset="0"/>
                <a:cs typeface="Times New Roman" pitchFamily="18" charset="0"/>
              </a:rPr>
              <a:t>Attractions</a:t>
            </a:r>
          </a:p>
          <a:p>
            <a:pPr eaLnBrk="1" hangingPunct="1">
              <a:lnSpc>
                <a:spcPct val="80000"/>
              </a:lnSpc>
              <a:defRPr/>
            </a:pPr>
            <a:r>
              <a:rPr lang="ga-IE" sz="2000" dirty="0" smtClean="0">
                <a:latin typeface="Times New Roman" pitchFamily="18" charset="0"/>
                <a:cs typeface="Times New Roman" pitchFamily="18" charset="0"/>
              </a:rPr>
              <a:t>Etc.</a:t>
            </a:r>
            <a:endParaRPr lang="en-GB"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Why people Travel</a:t>
            </a:r>
            <a:endParaRPr lang="en-GB" dirty="0" smtClean="0">
              <a:latin typeface="Times New Roman" pitchFamily="18" charset="0"/>
              <a:cs typeface="Times New Roman" pitchFamily="18" charset="0"/>
            </a:endParaRPr>
          </a:p>
        </p:txBody>
      </p:sp>
      <p:sp>
        <p:nvSpPr>
          <p:cNvPr id="31747" name="Rectangle 3"/>
          <p:cNvSpPr>
            <a:spLocks noGrp="1" noChangeArrowheads="1"/>
          </p:cNvSpPr>
          <p:nvPr>
            <p:ph idx="1"/>
          </p:nvPr>
        </p:nvSpPr>
        <p:spPr>
          <a:xfrm>
            <a:off x="457200" y="2057400"/>
            <a:ext cx="7239000" cy="4398336"/>
          </a:xfrm>
        </p:spPr>
        <p:txBody>
          <a:bodyPr/>
          <a:lstStyle/>
          <a:p>
            <a:pPr eaLnBrk="1" hangingPunct="1">
              <a:buFont typeface="Wingdings" pitchFamily="2" charset="2"/>
              <a:buNone/>
              <a:defRPr/>
            </a:pPr>
            <a:r>
              <a:rPr lang="ga-IE" dirty="0" smtClean="0">
                <a:latin typeface="Times New Roman" pitchFamily="18" charset="0"/>
                <a:cs typeface="Times New Roman" pitchFamily="18" charset="0"/>
              </a:rPr>
              <a:t>Two Broad Categries/ Reasons</a:t>
            </a:r>
            <a:r>
              <a:rPr lang="en-US" dirty="0" smtClean="0">
                <a:latin typeface="Times New Roman" pitchFamily="18" charset="0"/>
                <a:cs typeface="Times New Roman" pitchFamily="18" charset="0"/>
              </a:rPr>
              <a:t>:</a:t>
            </a:r>
          </a:p>
          <a:p>
            <a:pPr eaLnBrk="1" hangingPunct="1">
              <a:buFont typeface="Wingdings" pitchFamily="2" charset="2"/>
              <a:buNone/>
              <a:defRPr/>
            </a:pPr>
            <a:endParaRPr lang="ga-IE" dirty="0" smtClean="0">
              <a:latin typeface="Times New Roman" pitchFamily="18" charset="0"/>
              <a:cs typeface="Times New Roman" pitchFamily="18" charset="0"/>
            </a:endParaRPr>
          </a:p>
          <a:p>
            <a:pPr eaLnBrk="1" hangingPunct="1">
              <a:defRPr/>
            </a:pPr>
            <a:r>
              <a:rPr lang="ga-IE" dirty="0" smtClean="0">
                <a:latin typeface="Times New Roman" pitchFamily="18" charset="0"/>
                <a:cs typeface="Times New Roman" pitchFamily="18" charset="0"/>
              </a:rPr>
              <a:t>Pleasure</a:t>
            </a:r>
          </a:p>
          <a:p>
            <a:pPr eaLnBrk="1" hangingPunct="1">
              <a:defRPr/>
            </a:pPr>
            <a:r>
              <a:rPr lang="ga-IE" dirty="0" smtClean="0">
                <a:latin typeface="Times New Roman" pitchFamily="18" charset="0"/>
                <a:cs typeface="Times New Roman" pitchFamily="18" charset="0"/>
              </a:rPr>
              <a:t>Business</a:t>
            </a:r>
            <a:endParaRPr lang="en-GB"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rrowheads="1"/>
          </p:cNvSpPr>
          <p:nvPr>
            <p:ph type="title"/>
          </p:nvPr>
        </p:nvSpPr>
        <p:spPr/>
        <p:txBody>
          <a:bodyPr>
            <a:normAutofit fontScale="90000"/>
          </a:bodyPr>
          <a:lstStyle/>
          <a:p>
            <a:pPr algn="ctr" eaLnBrk="1" hangingPunct="1">
              <a:defRPr/>
            </a:pPr>
            <a:r>
              <a:rPr lang="ga-IE" dirty="0" smtClean="0">
                <a:latin typeface="Times New Roman" pitchFamily="18" charset="0"/>
                <a:cs typeface="Times New Roman" pitchFamily="18" charset="0"/>
              </a:rPr>
              <a:t>Motivation vs. Purpose of Travel</a:t>
            </a:r>
            <a:endParaRPr lang="en-GB" dirty="0" smtClean="0">
              <a:latin typeface="Times New Roman" pitchFamily="18" charset="0"/>
              <a:cs typeface="Times New Roman" pitchFamily="18" charset="0"/>
            </a:endParaRPr>
          </a:p>
        </p:txBody>
      </p:sp>
      <p:sp>
        <p:nvSpPr>
          <p:cNvPr id="66563" name="Rectangle 3"/>
          <p:cNvSpPr>
            <a:spLocks noGrp="1" noChangeArrowheads="1"/>
          </p:cNvSpPr>
          <p:nvPr>
            <p:ph idx="1"/>
          </p:nvPr>
        </p:nvSpPr>
        <p:spPr/>
        <p:txBody>
          <a:bodyPr/>
          <a:lstStyle/>
          <a:p>
            <a:pPr eaLnBrk="1" hangingPunct="1">
              <a:defRPr/>
            </a:pPr>
            <a:r>
              <a:rPr lang="ga-IE" dirty="0" smtClean="0">
                <a:latin typeface="Times New Roman" pitchFamily="18" charset="0"/>
                <a:cs typeface="Times New Roman" pitchFamily="18" charset="0"/>
              </a:rPr>
              <a:t>Motivation and purpose are closely related, Purpose speaks about the general reason why people travel however motivation highlights the specific reasons why people travel, that is it speaks about their needs and wants.</a:t>
            </a:r>
            <a:endParaRPr lang="en-US" dirty="0" smtClean="0">
              <a:latin typeface="Times New Roman" pitchFamily="18" charset="0"/>
              <a:cs typeface="Times New Roman" pitchFamily="18" charset="0"/>
            </a:endParaRPr>
          </a:p>
          <a:p>
            <a:pPr eaLnBrk="1" hangingPunct="1">
              <a:defRPr/>
            </a:pPr>
            <a:endParaRPr lang="en-US" dirty="0" smtClean="0">
              <a:latin typeface="Times New Roman" pitchFamily="18" charset="0"/>
              <a:cs typeface="Times New Roman" pitchFamily="18" charset="0"/>
            </a:endParaRPr>
          </a:p>
          <a:p>
            <a:pPr eaLnBrk="1" hangingPunct="1">
              <a:defRPr/>
            </a:pPr>
            <a:r>
              <a:rPr lang="en-US" sz="2800" dirty="0" smtClean="0">
                <a:latin typeface="Times New Roman" pitchFamily="18" charset="0"/>
                <a:cs typeface="Times New Roman" pitchFamily="18" charset="0"/>
              </a:rPr>
              <a:t>E.g.. Boy, I'm tired and stressed, I need time off (Purpose)</a:t>
            </a:r>
          </a:p>
          <a:p>
            <a:pPr eaLnBrk="1" hangingPunct="1">
              <a:defRPr/>
            </a:pPr>
            <a:r>
              <a:rPr lang="en-US" sz="2800" dirty="0" smtClean="0">
                <a:latin typeface="Times New Roman" pitchFamily="18" charset="0"/>
                <a:cs typeface="Times New Roman" pitchFamily="18" charset="0"/>
              </a:rPr>
              <a:t>Motivation is specific; e.g.. I must attend the conference</a:t>
            </a:r>
            <a:endParaRPr lang="ga-IE" sz="2800" dirty="0" smtClean="0">
              <a:latin typeface="Times New Roman" pitchFamily="18" charset="0"/>
              <a:cs typeface="Times New Roman" pitchFamily="18" charset="0"/>
            </a:endParaRPr>
          </a:p>
          <a:p>
            <a:pPr eaLnBrk="1" hangingPunct="1">
              <a:buFont typeface="Wingdings" pitchFamily="2" charset="2"/>
              <a:buNone/>
              <a:defRPr/>
            </a:pPr>
            <a:endParaRPr lang="en-GB"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idx="1"/>
          </p:nvPr>
        </p:nvSpPr>
        <p:spPr/>
        <p:txBody>
          <a:bodyPr/>
          <a:lstStyle/>
          <a:p>
            <a:pPr algn="ctr" eaLnBrk="1" hangingPunct="1">
              <a:buFont typeface="Wingdings" pitchFamily="2" charset="2"/>
              <a:buNone/>
              <a:defRPr/>
            </a:pPr>
            <a:r>
              <a:rPr lang="ga-IE" sz="6600" dirty="0" smtClean="0">
                <a:latin typeface="Times New Roman" pitchFamily="18" charset="0"/>
                <a:cs typeface="Times New Roman" pitchFamily="18" charset="0"/>
              </a:rPr>
              <a:t>Motivation Theories</a:t>
            </a:r>
            <a:endParaRPr lang="en-GB" sz="6600" dirty="0" smtClean="0">
              <a:latin typeface="Times New Roman" pitchFamily="18" charset="0"/>
              <a:cs typeface="Times New Roman" pitchFamily="18" charset="0"/>
            </a:endParaRPr>
          </a:p>
        </p:txBody>
      </p:sp>
      <p:pic>
        <p:nvPicPr>
          <p:cNvPr id="26627" name="Picture 4"/>
          <p:cNvPicPr>
            <a:picLocks noChangeAspect="1" noChangeArrowheads="1"/>
          </p:cNvPicPr>
          <p:nvPr/>
        </p:nvPicPr>
        <p:blipFill>
          <a:blip r:embed="rId3" cstate="print"/>
          <a:srcRect/>
          <a:stretch>
            <a:fillRect/>
          </a:stretch>
        </p:blipFill>
        <p:spPr bwMode="auto">
          <a:xfrm>
            <a:off x="2895600" y="2743200"/>
            <a:ext cx="2857500" cy="3276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rrowheads="1"/>
          </p:cNvSpPr>
          <p:nvPr>
            <p:ph type="title"/>
          </p:nvPr>
        </p:nvSpPr>
        <p:spPr>
          <a:xfrm>
            <a:off x="457200" y="304800"/>
            <a:ext cx="8229600" cy="990600"/>
          </a:xfrm>
        </p:spPr>
        <p:txBody>
          <a:bodyPr>
            <a:normAutofit fontScale="90000"/>
          </a:bodyPr>
          <a:lstStyle/>
          <a:p>
            <a:pPr algn="ctr" eaLnBrk="1" hangingPunct="1">
              <a:defRPr/>
            </a:pPr>
            <a:r>
              <a:rPr lang="ga-IE" dirty="0" smtClean="0">
                <a:latin typeface="Times New Roman" pitchFamily="18" charset="0"/>
                <a:cs typeface="Times New Roman" pitchFamily="18" charset="0"/>
              </a:rPr>
              <a:t>Motivation for Pleasure Travel</a:t>
            </a:r>
            <a:endParaRPr lang="en-GB" dirty="0" smtClean="0">
              <a:latin typeface="Times New Roman" pitchFamily="18" charset="0"/>
              <a:cs typeface="Times New Roman" pitchFamily="18" charset="0"/>
            </a:endParaRPr>
          </a:p>
        </p:txBody>
      </p:sp>
      <p:sp>
        <p:nvSpPr>
          <p:cNvPr id="35843" name="Rectangle 3"/>
          <p:cNvSpPr>
            <a:spLocks noGrp="1" noChangeArrowheads="1"/>
          </p:cNvSpPr>
          <p:nvPr>
            <p:ph idx="1"/>
          </p:nvPr>
        </p:nvSpPr>
        <p:spPr/>
        <p:txBody>
          <a:bodyPr>
            <a:normAutofit lnSpcReduction="10000"/>
          </a:bodyPr>
          <a:lstStyle/>
          <a:p>
            <a:pPr eaLnBrk="1" hangingPunct="1">
              <a:defRPr/>
            </a:pPr>
            <a:r>
              <a:rPr lang="ga-IE" sz="2800" dirty="0" smtClean="0">
                <a:latin typeface="Times New Roman" pitchFamily="18" charset="0"/>
                <a:cs typeface="Times New Roman" pitchFamily="18" charset="0"/>
              </a:rPr>
              <a:t>This can be compared to Maslow’s hierachy of needs.</a:t>
            </a:r>
          </a:p>
          <a:p>
            <a:pPr eaLnBrk="1" hangingPunct="1">
              <a:defRPr/>
            </a:pPr>
            <a:r>
              <a:rPr lang="ga-IE" sz="2800" dirty="0" smtClean="0">
                <a:latin typeface="Times New Roman" pitchFamily="18" charset="0"/>
                <a:cs typeface="Times New Roman" pitchFamily="18" charset="0"/>
              </a:rPr>
              <a:t>Physiological needs: food, water, oxygen, sex, etc</a:t>
            </a:r>
          </a:p>
          <a:p>
            <a:pPr eaLnBrk="1" hangingPunct="1">
              <a:defRPr/>
            </a:pPr>
            <a:r>
              <a:rPr lang="ga-IE" sz="2800" dirty="0" smtClean="0">
                <a:latin typeface="Times New Roman" pitchFamily="18" charset="0"/>
                <a:cs typeface="Times New Roman" pitchFamily="18" charset="0"/>
              </a:rPr>
              <a:t>Safety Needs: Security, stability, order, protection</a:t>
            </a:r>
          </a:p>
          <a:p>
            <a:pPr eaLnBrk="1" hangingPunct="1">
              <a:defRPr/>
            </a:pPr>
            <a:r>
              <a:rPr lang="ga-IE" sz="2800" dirty="0" smtClean="0">
                <a:latin typeface="Times New Roman" pitchFamily="18" charset="0"/>
                <a:cs typeface="Times New Roman" pitchFamily="18" charset="0"/>
              </a:rPr>
              <a:t>Love needs: affection, identification, belonging ( family and friends)</a:t>
            </a:r>
          </a:p>
          <a:p>
            <a:pPr eaLnBrk="1" hangingPunct="1">
              <a:defRPr/>
            </a:pPr>
            <a:r>
              <a:rPr lang="ga-IE" sz="2800" dirty="0" smtClean="0">
                <a:latin typeface="Times New Roman" pitchFamily="18" charset="0"/>
                <a:cs typeface="Times New Roman" pitchFamily="18" charset="0"/>
              </a:rPr>
              <a:t>Esteem needs: Self respect, prestige, sucess and achievement</a:t>
            </a:r>
          </a:p>
          <a:p>
            <a:pPr eaLnBrk="1" hangingPunct="1">
              <a:defRPr/>
            </a:pPr>
            <a:r>
              <a:rPr lang="ga-IE" sz="2800" dirty="0" smtClean="0">
                <a:latin typeface="Times New Roman" pitchFamily="18" charset="0"/>
                <a:cs typeface="Times New Roman" pitchFamily="18" charset="0"/>
              </a:rPr>
              <a:t>Self-actualization needs: self fulfillment</a:t>
            </a:r>
            <a:endParaRPr lang="en-GB" sz="2800" dirty="0" smtClean="0">
              <a:latin typeface="Times New Roman" pitchFamily="18" charset="0"/>
              <a:cs typeface="Times New Roman" pitchFamily="18" charset="0"/>
            </a:endParaRPr>
          </a:p>
        </p:txBody>
      </p:sp>
      <p:pic>
        <p:nvPicPr>
          <p:cNvPr id="27652" name="Picture 5"/>
          <p:cNvPicPr>
            <a:picLocks noChangeAspect="1" noChangeArrowheads="1"/>
          </p:cNvPicPr>
          <p:nvPr/>
        </p:nvPicPr>
        <p:blipFill>
          <a:blip r:embed="rId3" cstate="print"/>
          <a:srcRect/>
          <a:stretch>
            <a:fillRect/>
          </a:stretch>
        </p:blipFill>
        <p:spPr bwMode="auto">
          <a:xfrm>
            <a:off x="7315200" y="4495800"/>
            <a:ext cx="1562100" cy="1609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rrowheads="1"/>
          </p:cNvSpPr>
          <p:nvPr>
            <p:ph type="title"/>
          </p:nvPr>
        </p:nvSpPr>
        <p:spPr/>
        <p:txBody>
          <a:bodyPr/>
          <a:lstStyle/>
          <a:p>
            <a:pPr eaLnBrk="1" hangingPunct="1">
              <a:defRPr/>
            </a:pPr>
            <a:r>
              <a:rPr lang="ga-IE" smtClean="0"/>
              <a:t>Maslow’s Hierachy of Needs</a:t>
            </a:r>
            <a:endParaRPr lang="en-GB" smtClean="0"/>
          </a:p>
        </p:txBody>
      </p:sp>
      <p:pic>
        <p:nvPicPr>
          <p:cNvPr id="28675" name="Picture 3"/>
          <p:cNvPicPr>
            <a:picLocks noGrp="1" noChangeAspect="1" noChangeArrowheads="1"/>
          </p:cNvPicPr>
          <p:nvPr>
            <p:ph idx="1"/>
          </p:nvPr>
        </p:nvPicPr>
        <p:blipFill>
          <a:blip r:embed="rId3" cstate="print"/>
          <a:srcRect/>
          <a:stretch>
            <a:fillRect/>
          </a:stretch>
        </p:blipFill>
        <p:spPr>
          <a:xfrm>
            <a:off x="228600" y="1600200"/>
            <a:ext cx="8534400" cy="4143955"/>
          </a:xfrm>
        </p:spPr>
      </p:pic>
      <p:sp>
        <p:nvSpPr>
          <p:cNvPr id="28676" name="TextBox 3"/>
          <p:cNvSpPr txBox="1">
            <a:spLocks noChangeArrowheads="1"/>
          </p:cNvSpPr>
          <p:nvPr/>
        </p:nvSpPr>
        <p:spPr bwMode="auto">
          <a:xfrm>
            <a:off x="533400" y="5867400"/>
            <a:ext cx="8229600" cy="708025"/>
          </a:xfrm>
          <a:prstGeom prst="rect">
            <a:avLst/>
          </a:prstGeom>
          <a:noFill/>
          <a:ln w="9525">
            <a:noFill/>
            <a:miter lim="800000"/>
            <a:headEnd/>
            <a:tailEnd/>
          </a:ln>
        </p:spPr>
        <p:txBody>
          <a:bodyPr>
            <a:spAutoFit/>
          </a:bodyPr>
          <a:lstStyle/>
          <a:p>
            <a:pPr algn="ctr"/>
            <a:r>
              <a:rPr lang="en-US" sz="2000"/>
              <a:t>Depending on where you are (STAGE OF NEEDS) your motivation for travel will differ.</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4"/>
          <p:cNvPicPr>
            <a:picLocks noChangeAspect="1" noChangeArrowheads="1"/>
          </p:cNvPicPr>
          <p:nvPr/>
        </p:nvPicPr>
        <p:blipFill>
          <a:blip r:embed="rId3" cstate="print"/>
          <a:srcRect/>
          <a:stretch>
            <a:fillRect/>
          </a:stretch>
        </p:blipFill>
        <p:spPr bwMode="auto">
          <a:xfrm>
            <a:off x="3352800" y="5488371"/>
            <a:ext cx="2670175" cy="1369629"/>
          </a:xfrm>
          <a:prstGeom prst="rect">
            <a:avLst/>
          </a:prstGeom>
          <a:noFill/>
          <a:ln w="9525">
            <a:noFill/>
            <a:miter lim="800000"/>
            <a:headEnd/>
            <a:tailEnd/>
          </a:ln>
        </p:spPr>
      </p:pic>
      <p:sp>
        <p:nvSpPr>
          <p:cNvPr id="37890" name="Rectangle 2"/>
          <p:cNvSpPr>
            <a:spLocks noGrp="1" noRot="1" noChangeArrowheads="1"/>
          </p:cNvSpPr>
          <p:nvPr>
            <p:ph type="title"/>
          </p:nvPr>
        </p:nvSpPr>
        <p:spPr>
          <a:xfrm>
            <a:off x="381000" y="228600"/>
            <a:ext cx="8229600" cy="457200"/>
          </a:xfrm>
        </p:spPr>
        <p:txBody>
          <a:bodyPr>
            <a:normAutofit fontScale="90000"/>
          </a:bodyPr>
          <a:lstStyle/>
          <a:p>
            <a:pPr algn="ctr" eaLnBrk="1" hangingPunct="1">
              <a:defRPr/>
            </a:pPr>
            <a:r>
              <a:rPr lang="ga-IE" dirty="0" smtClean="0">
                <a:latin typeface="Times New Roman" pitchFamily="18" charset="0"/>
                <a:cs typeface="Times New Roman" pitchFamily="18" charset="0"/>
              </a:rPr>
              <a:t>McIntosh and Goeldner</a:t>
            </a:r>
            <a:endParaRPr lang="en-GB" dirty="0" smtClean="0">
              <a:latin typeface="Times New Roman" pitchFamily="18" charset="0"/>
              <a:cs typeface="Times New Roman" pitchFamily="18" charset="0"/>
            </a:endParaRPr>
          </a:p>
        </p:txBody>
      </p:sp>
      <p:sp>
        <p:nvSpPr>
          <p:cNvPr id="37891" name="Rectangle 3"/>
          <p:cNvSpPr>
            <a:spLocks noGrp="1" noChangeArrowheads="1"/>
          </p:cNvSpPr>
          <p:nvPr>
            <p:ph idx="1"/>
          </p:nvPr>
        </p:nvSpPr>
        <p:spPr>
          <a:xfrm>
            <a:off x="457200" y="838200"/>
            <a:ext cx="8458200" cy="5257800"/>
          </a:xfrm>
        </p:spPr>
        <p:txBody>
          <a:bodyPr>
            <a:normAutofit/>
          </a:bodyPr>
          <a:lstStyle/>
          <a:p>
            <a:pPr algn="just" eaLnBrk="1" hangingPunct="1">
              <a:lnSpc>
                <a:spcPct val="90000"/>
              </a:lnSpc>
              <a:defRPr/>
            </a:pPr>
            <a:r>
              <a:rPr lang="ga-IE" sz="2400" b="1" u="sng" dirty="0" smtClean="0">
                <a:latin typeface="Times New Roman" pitchFamily="18" charset="0"/>
                <a:cs typeface="Times New Roman" pitchFamily="18" charset="0"/>
              </a:rPr>
              <a:t>Travel motivators can be divided into</a:t>
            </a:r>
            <a:r>
              <a:rPr lang="ga-IE" sz="2400" dirty="0" smtClean="0">
                <a:latin typeface="Times New Roman" pitchFamily="18" charset="0"/>
                <a:cs typeface="Times New Roman" pitchFamily="18" charset="0"/>
              </a:rPr>
              <a:t>:</a:t>
            </a:r>
          </a:p>
          <a:p>
            <a:pPr algn="just" eaLnBrk="1" hangingPunct="1">
              <a:lnSpc>
                <a:spcPct val="90000"/>
              </a:lnSpc>
              <a:defRPr/>
            </a:pPr>
            <a:r>
              <a:rPr lang="ga-IE" sz="2800" b="1" i="1" u="sng" dirty="0" smtClean="0">
                <a:latin typeface="Times New Roman" pitchFamily="18" charset="0"/>
                <a:cs typeface="Times New Roman" pitchFamily="18" charset="0"/>
              </a:rPr>
              <a:t>Physical motivator</a:t>
            </a:r>
            <a:r>
              <a:rPr lang="en-US" sz="2800" b="1" i="1" u="sng" dirty="0" smtClean="0">
                <a:latin typeface="Times New Roman" pitchFamily="18" charset="0"/>
                <a:cs typeface="Times New Roman" pitchFamily="18" charset="0"/>
              </a:rPr>
              <a:t>s</a:t>
            </a:r>
            <a:r>
              <a:rPr lang="ga-IE" sz="2800" dirty="0" smtClean="0">
                <a:latin typeface="Times New Roman" pitchFamily="18" charset="0"/>
                <a:cs typeface="Times New Roman" pitchFamily="18" charset="0"/>
              </a:rPr>
              <a:t>: Physical rest, sporting, beach activities, healthful and relaxing entertainment</a:t>
            </a:r>
          </a:p>
          <a:p>
            <a:pPr algn="just" eaLnBrk="1" hangingPunct="1">
              <a:lnSpc>
                <a:spcPct val="90000"/>
              </a:lnSpc>
              <a:defRPr/>
            </a:pPr>
            <a:r>
              <a:rPr lang="ga-IE" sz="2800" b="1" i="1" u="sng" dirty="0" smtClean="0">
                <a:latin typeface="Times New Roman" pitchFamily="18" charset="0"/>
                <a:cs typeface="Times New Roman" pitchFamily="18" charset="0"/>
              </a:rPr>
              <a:t>Cultural motivator</a:t>
            </a:r>
            <a:r>
              <a:rPr lang="en-US" sz="2800" b="1" i="1" u="sng" dirty="0" smtClean="0">
                <a:latin typeface="Times New Roman" pitchFamily="18" charset="0"/>
                <a:cs typeface="Times New Roman" pitchFamily="18" charset="0"/>
              </a:rPr>
              <a:t>s</a:t>
            </a:r>
            <a:r>
              <a:rPr lang="ga-IE" sz="2800" dirty="0" smtClean="0">
                <a:latin typeface="Times New Roman" pitchFamily="18" charset="0"/>
                <a:cs typeface="Times New Roman" pitchFamily="18" charset="0"/>
              </a:rPr>
              <a:t>: the desire for knowledge of other countries, music, art, folklore, dances, paintings and religion</a:t>
            </a:r>
          </a:p>
          <a:p>
            <a:pPr algn="just" eaLnBrk="1" hangingPunct="1">
              <a:lnSpc>
                <a:spcPct val="90000"/>
              </a:lnSpc>
              <a:defRPr/>
            </a:pPr>
            <a:r>
              <a:rPr lang="ga-IE" sz="2800" b="1" u="sng" dirty="0" smtClean="0">
                <a:latin typeface="Times New Roman" pitchFamily="18" charset="0"/>
                <a:cs typeface="Times New Roman" pitchFamily="18" charset="0"/>
              </a:rPr>
              <a:t>Interpersonal Motivator</a:t>
            </a:r>
            <a:r>
              <a:rPr lang="en-US" sz="2800" b="1" u="sng" dirty="0" smtClean="0">
                <a:latin typeface="Times New Roman" pitchFamily="18" charset="0"/>
                <a:cs typeface="Times New Roman" pitchFamily="18" charset="0"/>
              </a:rPr>
              <a:t>s</a:t>
            </a:r>
            <a:r>
              <a:rPr lang="ga-IE" sz="2800" dirty="0" smtClean="0">
                <a:latin typeface="Times New Roman" pitchFamily="18" charset="0"/>
                <a:cs typeface="Times New Roman" pitchFamily="18" charset="0"/>
              </a:rPr>
              <a:t>: The desire to meet new persons, visit friends and relatives, to escape from routine, the family, to make new friends</a:t>
            </a:r>
          </a:p>
          <a:p>
            <a:pPr algn="just" eaLnBrk="1" hangingPunct="1">
              <a:lnSpc>
                <a:spcPct val="90000"/>
              </a:lnSpc>
              <a:defRPr/>
            </a:pPr>
            <a:r>
              <a:rPr lang="ga-IE" sz="2800" b="1" i="1" u="sng" dirty="0" smtClean="0">
                <a:latin typeface="Times New Roman" pitchFamily="18" charset="0"/>
                <a:cs typeface="Times New Roman" pitchFamily="18" charset="0"/>
              </a:rPr>
              <a:t>Status and Prestige motivator</a:t>
            </a:r>
            <a:r>
              <a:rPr lang="en-US" sz="2800" b="1" i="1" u="sng" dirty="0" smtClean="0">
                <a:latin typeface="Times New Roman" pitchFamily="18" charset="0"/>
                <a:cs typeface="Times New Roman" pitchFamily="18" charset="0"/>
              </a:rPr>
              <a:t>s</a:t>
            </a:r>
            <a:r>
              <a:rPr lang="ga-IE" sz="2800" dirty="0" smtClean="0">
                <a:latin typeface="Times New Roman" pitchFamily="18" charset="0"/>
                <a:cs typeface="Times New Roman" pitchFamily="18" charset="0"/>
              </a:rPr>
              <a:t>: the desire for recognition, attention, appreciation and good reputation.</a:t>
            </a:r>
            <a:endParaRPr lang="en-GB" sz="28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The Increase of Travel</a:t>
            </a:r>
            <a:endParaRPr lang="en-GB" dirty="0" smtClean="0">
              <a:latin typeface="Times New Roman" pitchFamily="18" charset="0"/>
              <a:cs typeface="Times New Roman" pitchFamily="18" charset="0"/>
            </a:endParaRPr>
          </a:p>
        </p:txBody>
      </p:sp>
      <p:sp>
        <p:nvSpPr>
          <p:cNvPr id="39939" name="Rectangle 3"/>
          <p:cNvSpPr>
            <a:spLocks noGrp="1" noChangeArrowheads="1"/>
          </p:cNvSpPr>
          <p:nvPr>
            <p:ph idx="1"/>
          </p:nvPr>
        </p:nvSpPr>
        <p:spPr/>
        <p:txBody>
          <a:bodyPr/>
          <a:lstStyle/>
          <a:p>
            <a:pPr eaLnBrk="1" hangingPunct="1">
              <a:defRPr/>
            </a:pPr>
            <a:r>
              <a:rPr lang="ga-IE" dirty="0" smtClean="0">
                <a:latin typeface="Times New Roman" pitchFamily="18" charset="0"/>
                <a:cs typeface="Times New Roman" pitchFamily="18" charset="0"/>
              </a:rPr>
              <a:t>Longer life span</a:t>
            </a:r>
          </a:p>
          <a:p>
            <a:pPr eaLnBrk="1" hangingPunct="1">
              <a:defRPr/>
            </a:pPr>
            <a:r>
              <a:rPr lang="ga-IE" dirty="0" smtClean="0">
                <a:latin typeface="Times New Roman" pitchFamily="18" charset="0"/>
                <a:cs typeface="Times New Roman" pitchFamily="18" charset="0"/>
              </a:rPr>
              <a:t>Flexible work hours</a:t>
            </a:r>
          </a:p>
          <a:p>
            <a:pPr eaLnBrk="1" hangingPunct="1">
              <a:defRPr/>
            </a:pPr>
            <a:r>
              <a:rPr lang="ga-IE" dirty="0" smtClean="0">
                <a:latin typeface="Times New Roman" pitchFamily="18" charset="0"/>
                <a:cs typeface="Times New Roman" pitchFamily="18" charset="0"/>
              </a:rPr>
              <a:t>Early retirement</a:t>
            </a:r>
          </a:p>
          <a:p>
            <a:pPr eaLnBrk="1" hangingPunct="1">
              <a:defRPr/>
            </a:pPr>
            <a:r>
              <a:rPr lang="ga-IE" dirty="0" smtClean="0">
                <a:latin typeface="Times New Roman" pitchFamily="18" charset="0"/>
                <a:cs typeface="Times New Roman" pitchFamily="18" charset="0"/>
              </a:rPr>
              <a:t>Greater ease of travel</a:t>
            </a:r>
          </a:p>
          <a:p>
            <a:pPr eaLnBrk="1" hangingPunct="1">
              <a:defRPr/>
            </a:pPr>
            <a:r>
              <a:rPr lang="ga-IE" dirty="0" smtClean="0">
                <a:latin typeface="Times New Roman" pitchFamily="18" charset="0"/>
                <a:cs typeface="Times New Roman" pitchFamily="18" charset="0"/>
              </a:rPr>
              <a:t>Tendency to take shorter more frequent trips</a:t>
            </a:r>
          </a:p>
          <a:p>
            <a:pPr eaLnBrk="1" hangingPunct="1">
              <a:defRPr/>
            </a:pPr>
            <a:r>
              <a:rPr lang="ga-IE" dirty="0" smtClean="0">
                <a:latin typeface="Times New Roman" pitchFamily="18" charset="0"/>
                <a:cs typeface="Times New Roman" pitchFamily="18" charset="0"/>
              </a:rPr>
              <a:t>Increase in the standard of living</a:t>
            </a:r>
            <a:endParaRPr lang="en-GB" dirty="0" smtClean="0">
              <a:latin typeface="Times New Roman" pitchFamily="18" charset="0"/>
              <a:cs typeface="Times New Roman" pitchFamily="18" charset="0"/>
            </a:endParaRPr>
          </a:p>
        </p:txBody>
      </p:sp>
      <p:pic>
        <p:nvPicPr>
          <p:cNvPr id="30724" name="Picture 4"/>
          <p:cNvPicPr>
            <a:picLocks noChangeAspect="1" noChangeArrowheads="1"/>
          </p:cNvPicPr>
          <p:nvPr/>
        </p:nvPicPr>
        <p:blipFill>
          <a:blip r:embed="rId3" cstate="print"/>
          <a:srcRect/>
          <a:stretch>
            <a:fillRect/>
          </a:stretch>
        </p:blipFill>
        <p:spPr bwMode="auto">
          <a:xfrm>
            <a:off x="4969413" y="1647092"/>
            <a:ext cx="2895600" cy="1504950"/>
          </a:xfrm>
          <a:prstGeom prst="rect">
            <a:avLst/>
          </a:prstGeom>
          <a:noFill/>
          <a:ln w="9525">
            <a:noFill/>
            <a:miter lim="800000"/>
            <a:headEnd/>
            <a:tailEnd/>
          </a:ln>
        </p:spPr>
      </p:pic>
      <p:pic>
        <p:nvPicPr>
          <p:cNvPr id="30725" name="Picture 5"/>
          <p:cNvPicPr>
            <a:picLocks noChangeAspect="1" noChangeArrowheads="1"/>
          </p:cNvPicPr>
          <p:nvPr/>
        </p:nvPicPr>
        <p:blipFill>
          <a:blip r:embed="rId4" cstate="print"/>
          <a:srcRect/>
          <a:stretch>
            <a:fillRect/>
          </a:stretch>
        </p:blipFill>
        <p:spPr bwMode="auto">
          <a:xfrm>
            <a:off x="5181600" y="4800600"/>
            <a:ext cx="2514600" cy="2057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Plog</a:t>
            </a:r>
            <a:r>
              <a:rPr lang="en-US" dirty="0" smtClean="0">
                <a:latin typeface="Times New Roman" pitchFamily="18" charset="0"/>
                <a:cs typeface="Times New Roman" pitchFamily="18" charset="0"/>
              </a:rPr>
              <a:t>’</a:t>
            </a:r>
            <a:r>
              <a:rPr lang="ga-IE" dirty="0" smtClean="0">
                <a:latin typeface="Times New Roman" pitchFamily="18" charset="0"/>
                <a:cs typeface="Times New Roman" pitchFamily="18" charset="0"/>
              </a:rPr>
              <a:t>s Theory</a:t>
            </a:r>
            <a:endParaRPr lang="en-GB" dirty="0" smtClean="0">
              <a:latin typeface="Times New Roman" pitchFamily="18" charset="0"/>
              <a:cs typeface="Times New Roman" pitchFamily="18" charset="0"/>
            </a:endParaRPr>
          </a:p>
        </p:txBody>
      </p:sp>
      <p:sp>
        <p:nvSpPr>
          <p:cNvPr id="44035" name="Rectangle 3"/>
          <p:cNvSpPr>
            <a:spLocks noGrp="1" noChangeArrowheads="1"/>
          </p:cNvSpPr>
          <p:nvPr>
            <p:ph idx="1"/>
          </p:nvPr>
        </p:nvSpPr>
        <p:spPr/>
        <p:txBody>
          <a:bodyPr/>
          <a:lstStyle/>
          <a:p>
            <a:pPr eaLnBrk="1" hangingPunct="1">
              <a:buNone/>
              <a:defRPr/>
            </a:pPr>
            <a:r>
              <a:rPr lang="ga-IE" dirty="0" smtClean="0">
                <a:latin typeface="Times New Roman" pitchFamily="18" charset="0"/>
                <a:cs typeface="Times New Roman" pitchFamily="18" charset="0"/>
              </a:rPr>
              <a:t>Travellers can be separated into two extremes:</a:t>
            </a:r>
            <a:endParaRPr lang="en-US" dirty="0" smtClean="0">
              <a:latin typeface="Times New Roman" pitchFamily="18" charset="0"/>
              <a:cs typeface="Times New Roman" pitchFamily="18" charset="0"/>
            </a:endParaRPr>
          </a:p>
          <a:p>
            <a:pPr eaLnBrk="1" hangingPunct="1">
              <a:buNone/>
              <a:defRPr/>
            </a:pPr>
            <a:endParaRPr lang="ga-IE" dirty="0" smtClean="0">
              <a:latin typeface="Times New Roman" pitchFamily="18" charset="0"/>
              <a:cs typeface="Times New Roman" pitchFamily="18" charset="0"/>
            </a:endParaRPr>
          </a:p>
          <a:p>
            <a:pPr eaLnBrk="1" hangingPunct="1">
              <a:defRPr/>
            </a:pPr>
            <a:r>
              <a:rPr lang="ga-IE" dirty="0" smtClean="0">
                <a:latin typeface="Times New Roman" pitchFamily="18" charset="0"/>
                <a:cs typeface="Times New Roman" pitchFamily="18" charset="0"/>
              </a:rPr>
              <a:t>Psychocentrics</a:t>
            </a:r>
          </a:p>
          <a:p>
            <a:pPr eaLnBrk="1" hangingPunct="1">
              <a:defRPr/>
            </a:pPr>
            <a:r>
              <a:rPr lang="ga-IE" dirty="0" smtClean="0">
                <a:latin typeface="Times New Roman" pitchFamily="18" charset="0"/>
                <a:cs typeface="Times New Roman" pitchFamily="18" charset="0"/>
              </a:rPr>
              <a:t>Allocentrics</a:t>
            </a:r>
          </a:p>
          <a:p>
            <a:pPr eaLnBrk="1" hangingPunct="1">
              <a:defRPr/>
            </a:pPr>
            <a:endParaRPr lang="en-GB"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rrowheads="1"/>
          </p:cNvSpPr>
          <p:nvPr>
            <p:ph type="title"/>
          </p:nvPr>
        </p:nvSpPr>
        <p:spPr>
          <a:xfrm>
            <a:off x="457200" y="320040"/>
            <a:ext cx="7239000" cy="899160"/>
          </a:xfrm>
        </p:spPr>
        <p:txBody>
          <a:bodyPr/>
          <a:lstStyle/>
          <a:p>
            <a:pPr algn="ctr" eaLnBrk="1" hangingPunct="1">
              <a:defRPr/>
            </a:pPr>
            <a:r>
              <a:rPr lang="ga-IE" dirty="0" smtClean="0">
                <a:latin typeface="Times New Roman" pitchFamily="18" charset="0"/>
                <a:cs typeface="Times New Roman" pitchFamily="18" charset="0"/>
              </a:rPr>
              <a:t>Plog’s Theory</a:t>
            </a:r>
            <a:endParaRPr lang="en-GB" dirty="0" smtClean="0">
              <a:latin typeface="Times New Roman" pitchFamily="18" charset="0"/>
              <a:cs typeface="Times New Roman" pitchFamily="18" charset="0"/>
            </a:endParaRPr>
          </a:p>
        </p:txBody>
      </p:sp>
      <p:sp>
        <p:nvSpPr>
          <p:cNvPr id="46083" name="Rectangle 3"/>
          <p:cNvSpPr>
            <a:spLocks noGrp="1" noChangeArrowheads="1"/>
          </p:cNvSpPr>
          <p:nvPr>
            <p:ph idx="1"/>
          </p:nvPr>
        </p:nvSpPr>
        <p:spPr/>
        <p:txBody>
          <a:bodyPr/>
          <a:lstStyle/>
          <a:p>
            <a:pPr algn="just" eaLnBrk="1" hangingPunct="1">
              <a:buFont typeface="Wingdings" pitchFamily="2" charset="2"/>
              <a:buNone/>
              <a:defRPr/>
            </a:pPr>
            <a:r>
              <a:rPr lang="en-US" altLang="zh-CN" dirty="0" smtClean="0">
                <a:latin typeface="Times New Roman" charset="0"/>
                <a:ea typeface="宋体" charset="-122"/>
              </a:rPr>
              <a:t> The personality typology of Stanley </a:t>
            </a:r>
            <a:r>
              <a:rPr lang="en-US" altLang="zh-CN" dirty="0" err="1" smtClean="0">
                <a:latin typeface="Times New Roman" charset="0"/>
                <a:ea typeface="宋体" charset="-122"/>
              </a:rPr>
              <a:t>Plog</a:t>
            </a:r>
            <a:r>
              <a:rPr lang="en-US" altLang="zh-CN" dirty="0" smtClean="0">
                <a:latin typeface="Times New Roman" charset="0"/>
                <a:ea typeface="宋体" charset="-122"/>
              </a:rPr>
              <a:t> is widely cited within tourism studies. According to </a:t>
            </a:r>
            <a:r>
              <a:rPr lang="en-US" altLang="zh-CN" dirty="0" err="1" smtClean="0">
                <a:latin typeface="Times New Roman" charset="0"/>
                <a:ea typeface="宋体" charset="-122"/>
              </a:rPr>
              <a:t>Plog</a:t>
            </a:r>
            <a:r>
              <a:rPr lang="en-US" altLang="zh-CN" dirty="0" smtClean="0">
                <a:latin typeface="Times New Roman" charset="0"/>
                <a:ea typeface="宋体" charset="-122"/>
              </a:rPr>
              <a:t>, a “normal” population, represented as a bell curve can be divided into several categories based on personality dimensions, intermediate categories are provided to recognize the continual rather than discrete nature of these dimensions.</a:t>
            </a:r>
          </a:p>
          <a:p>
            <a:pPr algn="just" eaLnBrk="1" hangingPunct="1">
              <a:defRPr/>
            </a:pPr>
            <a:endParaRPr lang="en-GB"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rrowheads="1"/>
          </p:cNvSpPr>
          <p:nvPr>
            <p:ph type="title"/>
          </p:nvPr>
        </p:nvSpPr>
        <p:spPr/>
        <p:txBody>
          <a:bodyPr/>
          <a:lstStyle/>
          <a:p>
            <a:pPr eaLnBrk="1" hangingPunct="1">
              <a:defRPr/>
            </a:pPr>
            <a:r>
              <a:rPr lang="ga-IE" smtClean="0"/>
              <a:t>Plog’s Theory</a:t>
            </a:r>
            <a:endParaRPr lang="en-GB" smtClean="0"/>
          </a:p>
        </p:txBody>
      </p:sp>
      <p:pic>
        <p:nvPicPr>
          <p:cNvPr id="33795" name="Picture 3"/>
          <p:cNvPicPr>
            <a:picLocks noGrp="1" noChangeAspect="1" noChangeArrowheads="1"/>
          </p:cNvPicPr>
          <p:nvPr>
            <p:ph idx="1"/>
          </p:nvPr>
        </p:nvPicPr>
        <p:blipFill>
          <a:blip r:embed="rId3" cstate="print"/>
          <a:stretch>
            <a:fillRect/>
          </a:stretch>
        </p:blipFill>
        <p:spPr>
          <a:xfrm>
            <a:off x="547736" y="1609725"/>
            <a:ext cx="7057928" cy="4846638"/>
          </a:xfr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rrowheads="1"/>
          </p:cNvSpPr>
          <p:nvPr>
            <p:ph type="title"/>
          </p:nvPr>
        </p:nvSpPr>
        <p:spPr>
          <a:xfrm>
            <a:off x="457200" y="320040"/>
            <a:ext cx="7239000" cy="1051560"/>
          </a:xfrm>
        </p:spPr>
        <p:txBody>
          <a:bodyPr/>
          <a:lstStyle/>
          <a:p>
            <a:pPr algn="ctr" eaLnBrk="1" hangingPunct="1">
              <a:defRPr/>
            </a:pPr>
            <a:r>
              <a:rPr lang="ga-IE" dirty="0" smtClean="0">
                <a:latin typeface="Times New Roman" pitchFamily="18" charset="0"/>
                <a:cs typeface="Times New Roman" pitchFamily="18" charset="0"/>
              </a:rPr>
              <a:t>Plog’s Theory</a:t>
            </a:r>
            <a:endParaRPr lang="en-GB" dirty="0" smtClean="0">
              <a:latin typeface="Times New Roman" pitchFamily="18" charset="0"/>
              <a:cs typeface="Times New Roman" pitchFamily="18" charset="0"/>
            </a:endParaRPr>
          </a:p>
        </p:txBody>
      </p:sp>
      <p:sp>
        <p:nvSpPr>
          <p:cNvPr id="48131" name="Rectangle 3"/>
          <p:cNvSpPr>
            <a:spLocks noGrp="1" noChangeArrowheads="1"/>
          </p:cNvSpPr>
          <p:nvPr>
            <p:ph idx="1"/>
          </p:nvPr>
        </p:nvSpPr>
        <p:spPr/>
        <p:txBody>
          <a:bodyPr>
            <a:normAutofit lnSpcReduction="10000"/>
          </a:bodyPr>
          <a:lstStyle/>
          <a:p>
            <a:pPr eaLnBrk="1" hangingPunct="1">
              <a:defRPr/>
            </a:pPr>
            <a:r>
              <a:rPr lang="ga-IE" altLang="zh-CN" sz="2800" dirty="0" smtClean="0">
                <a:latin typeface="Times New Roman" pitchFamily="18" charset="0"/>
                <a:ea typeface="宋体" charset="-122"/>
                <a:cs typeface="Times New Roman" pitchFamily="18" charset="0"/>
              </a:rPr>
              <a:t>Allocentrics perfer new and different destinantions</a:t>
            </a:r>
          </a:p>
          <a:p>
            <a:pPr eaLnBrk="1" hangingPunct="1">
              <a:defRPr/>
            </a:pPr>
            <a:r>
              <a:rPr lang="ga-IE" altLang="zh-CN" sz="2800" dirty="0" smtClean="0">
                <a:latin typeface="Times New Roman" pitchFamily="18" charset="0"/>
                <a:ea typeface="宋体" charset="-122"/>
                <a:cs typeface="Times New Roman" pitchFamily="18" charset="0"/>
              </a:rPr>
              <a:t>More adventurous, curious, energetic, and outgoing</a:t>
            </a:r>
          </a:p>
          <a:p>
            <a:pPr eaLnBrk="1" hangingPunct="1">
              <a:defRPr/>
            </a:pPr>
            <a:r>
              <a:rPr lang="ga-IE" altLang="zh-CN" sz="2800" b="1" dirty="0" smtClean="0">
                <a:latin typeface="Times New Roman" pitchFamily="18" charset="0"/>
                <a:ea typeface="宋体" charset="-122"/>
                <a:cs typeface="Times New Roman" pitchFamily="18" charset="0"/>
              </a:rPr>
              <a:t>Example: Africa, South Africa, Egypt etc.</a:t>
            </a:r>
            <a:endParaRPr lang="en-US" altLang="zh-CN" sz="2800" b="1" dirty="0" smtClean="0">
              <a:latin typeface="Times New Roman" pitchFamily="18" charset="0"/>
              <a:ea typeface="宋体" charset="-122"/>
              <a:cs typeface="Times New Roman" pitchFamily="18" charset="0"/>
            </a:endParaRPr>
          </a:p>
          <a:p>
            <a:pPr eaLnBrk="1" hangingPunct="1">
              <a:defRPr/>
            </a:pPr>
            <a:endParaRPr lang="en-GB" sz="2800" dirty="0" smtClean="0">
              <a:latin typeface="Times New Roman" pitchFamily="18" charset="0"/>
              <a:cs typeface="Times New Roman" pitchFamily="18" charset="0"/>
            </a:endParaRPr>
          </a:p>
          <a:p>
            <a:pPr eaLnBrk="1" hangingPunct="1">
              <a:defRPr/>
            </a:pPr>
            <a:r>
              <a:rPr lang="en-US" altLang="zh-CN" sz="2800" b="1" dirty="0" err="1" smtClean="0">
                <a:latin typeface="Times New Roman" pitchFamily="18" charset="0"/>
                <a:ea typeface="宋体" charset="-122"/>
                <a:cs typeface="Times New Roman" pitchFamily="18" charset="0"/>
              </a:rPr>
              <a:t>Allocentrics</a:t>
            </a:r>
            <a:r>
              <a:rPr lang="en-US" altLang="zh-CN" sz="2800" dirty="0" smtClean="0">
                <a:latin typeface="Times New Roman" pitchFamily="18" charset="0"/>
                <a:ea typeface="宋体" charset="-122"/>
                <a:cs typeface="Times New Roman" pitchFamily="18" charset="0"/>
              </a:rPr>
              <a:t>: according to </a:t>
            </a:r>
            <a:r>
              <a:rPr lang="en-US" altLang="zh-CN" sz="2800" dirty="0" err="1" smtClean="0">
                <a:latin typeface="Times New Roman" pitchFamily="18" charset="0"/>
                <a:ea typeface="宋体" charset="-122"/>
                <a:cs typeface="Times New Roman" pitchFamily="18" charset="0"/>
              </a:rPr>
              <a:t>Plog’s</a:t>
            </a:r>
            <a:r>
              <a:rPr lang="en-US" altLang="zh-CN" sz="2800" dirty="0" smtClean="0">
                <a:latin typeface="Times New Roman" pitchFamily="18" charset="0"/>
                <a:ea typeface="宋体" charset="-122"/>
                <a:cs typeface="Times New Roman" pitchFamily="18" charset="0"/>
              </a:rPr>
              <a:t> typology, ‘other-centered’ tourists who enjoy exposing themselves to other cultures and new experiences, and are willing to take risks in this process</a:t>
            </a:r>
            <a:endParaRPr lang="ga-IE" altLang="zh-CN" sz="2800" dirty="0" smtClean="0">
              <a:latin typeface="Times New Roman" pitchFamily="18" charset="0"/>
              <a:ea typeface="宋体" charset="-122"/>
              <a:cs typeface="Times New Roman" pitchFamily="18" charset="0"/>
            </a:endParaRPr>
          </a:p>
        </p:txBody>
      </p:sp>
      <p:pic>
        <p:nvPicPr>
          <p:cNvPr id="34820" name="Picture 4"/>
          <p:cNvPicPr>
            <a:picLocks noChangeAspect="1" noChangeArrowheads="1"/>
          </p:cNvPicPr>
          <p:nvPr/>
        </p:nvPicPr>
        <p:blipFill>
          <a:blip r:embed="rId3" cstate="print"/>
          <a:srcRect/>
          <a:stretch>
            <a:fillRect/>
          </a:stretch>
        </p:blipFill>
        <p:spPr bwMode="auto">
          <a:xfrm>
            <a:off x="6048375" y="0"/>
            <a:ext cx="3095625" cy="1600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Plog’s Theory</a:t>
            </a:r>
            <a:endParaRPr lang="en-GB" dirty="0" smtClean="0">
              <a:latin typeface="Times New Roman" pitchFamily="18" charset="0"/>
              <a:cs typeface="Times New Roman" pitchFamily="18" charset="0"/>
            </a:endParaRPr>
          </a:p>
        </p:txBody>
      </p:sp>
      <p:sp>
        <p:nvSpPr>
          <p:cNvPr id="50179" name="Rectangle 3"/>
          <p:cNvSpPr>
            <a:spLocks noGrp="1" noChangeArrowheads="1"/>
          </p:cNvSpPr>
          <p:nvPr>
            <p:ph idx="1"/>
          </p:nvPr>
        </p:nvSpPr>
        <p:spPr>
          <a:xfrm>
            <a:off x="457200" y="2209800"/>
            <a:ext cx="7239000" cy="4245936"/>
          </a:xfrm>
        </p:spPr>
        <p:txBody>
          <a:bodyPr/>
          <a:lstStyle/>
          <a:p>
            <a:pPr eaLnBrk="1" hangingPunct="1">
              <a:defRPr/>
            </a:pPr>
            <a:r>
              <a:rPr lang="en-US" altLang="zh-CN" b="1" dirty="0" err="1" smtClean="0">
                <a:latin typeface="Times New Roman" pitchFamily="18" charset="0"/>
                <a:ea typeface="宋体" charset="-122"/>
                <a:cs typeface="Times New Roman" pitchFamily="18" charset="0"/>
              </a:rPr>
              <a:t>Psychocentrics</a:t>
            </a:r>
            <a:r>
              <a:rPr lang="en-US" altLang="zh-CN" dirty="0" smtClean="0">
                <a:latin typeface="Times New Roman" pitchFamily="18" charset="0"/>
                <a:ea typeface="宋体" charset="-122"/>
                <a:cs typeface="Times New Roman" pitchFamily="18" charset="0"/>
              </a:rPr>
              <a:t>: ‘self-centered’ tourists who prefer familiar and risk averse experiences</a:t>
            </a:r>
            <a:endParaRPr lang="ga-IE" altLang="zh-CN" dirty="0" smtClean="0">
              <a:latin typeface="Times New Roman" pitchFamily="18" charset="0"/>
              <a:ea typeface="宋体" charset="-122"/>
              <a:cs typeface="Times New Roman" pitchFamily="18" charset="0"/>
            </a:endParaRPr>
          </a:p>
          <a:p>
            <a:pPr eaLnBrk="1" hangingPunct="1">
              <a:defRPr/>
            </a:pPr>
            <a:r>
              <a:rPr lang="ga-IE" altLang="zh-CN" dirty="0" smtClean="0">
                <a:latin typeface="Times New Roman" pitchFamily="18" charset="0"/>
                <a:ea typeface="宋体" charset="-122"/>
                <a:cs typeface="Times New Roman" pitchFamily="18" charset="0"/>
              </a:rPr>
              <a:t>Example: las Vegas, Atlantic City</a:t>
            </a:r>
            <a:endParaRPr lang="en-US" altLang="zh-CN" b="1" dirty="0" smtClean="0">
              <a:latin typeface="Times New Roman" pitchFamily="18" charset="0"/>
              <a:ea typeface="宋体" charset="-122"/>
              <a:cs typeface="Times New Roman" pitchFamily="18" charset="0"/>
            </a:endParaRPr>
          </a:p>
          <a:p>
            <a:pPr eaLnBrk="1" hangingPunct="1">
              <a:defRPr/>
            </a:pPr>
            <a:endParaRPr lang="en-GB" dirty="0" smtClean="0"/>
          </a:p>
        </p:txBody>
      </p:sp>
      <p:pic>
        <p:nvPicPr>
          <p:cNvPr id="35844" name="Picture 5"/>
          <p:cNvPicPr>
            <a:picLocks noChangeAspect="1" noChangeArrowheads="1"/>
          </p:cNvPicPr>
          <p:nvPr/>
        </p:nvPicPr>
        <p:blipFill>
          <a:blip r:embed="rId3" cstate="print"/>
          <a:srcRect/>
          <a:stretch>
            <a:fillRect/>
          </a:stretch>
        </p:blipFill>
        <p:spPr bwMode="auto">
          <a:xfrm>
            <a:off x="2514600" y="3810000"/>
            <a:ext cx="3581400" cy="208089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rrowheads="1"/>
          </p:cNvSpPr>
          <p:nvPr>
            <p:ph type="title"/>
          </p:nvPr>
        </p:nvSpPr>
        <p:spPr>
          <a:xfrm>
            <a:off x="457200" y="320040"/>
            <a:ext cx="7239000" cy="899160"/>
          </a:xfrm>
        </p:spPr>
        <p:txBody>
          <a:bodyPr/>
          <a:lstStyle/>
          <a:p>
            <a:pPr algn="ctr" eaLnBrk="1" hangingPunct="1">
              <a:defRPr/>
            </a:pPr>
            <a:r>
              <a:rPr lang="ga-IE" dirty="0" smtClean="0">
                <a:latin typeface="Times New Roman" pitchFamily="18" charset="0"/>
                <a:cs typeface="Times New Roman" pitchFamily="18" charset="0"/>
              </a:rPr>
              <a:t>Plog’s Theory</a:t>
            </a:r>
            <a:endParaRPr lang="en-GB" dirty="0" smtClean="0">
              <a:latin typeface="Times New Roman" pitchFamily="18" charset="0"/>
              <a:cs typeface="Times New Roman" pitchFamily="18" charset="0"/>
            </a:endParaRPr>
          </a:p>
        </p:txBody>
      </p:sp>
      <p:sp>
        <p:nvSpPr>
          <p:cNvPr id="52227" name="Rectangle 3"/>
          <p:cNvSpPr>
            <a:spLocks noGrp="1" noChangeArrowheads="1"/>
          </p:cNvSpPr>
          <p:nvPr>
            <p:ph idx="1"/>
          </p:nvPr>
        </p:nvSpPr>
        <p:spPr>
          <a:xfrm>
            <a:off x="457200" y="2133600"/>
            <a:ext cx="7239000" cy="4322136"/>
          </a:xfrm>
        </p:spPr>
        <p:txBody>
          <a:bodyPr/>
          <a:lstStyle/>
          <a:p>
            <a:pPr eaLnBrk="1" hangingPunct="1">
              <a:defRPr/>
            </a:pPr>
            <a:r>
              <a:rPr lang="en-US" altLang="zh-CN" b="1" dirty="0" err="1" smtClean="0">
                <a:latin typeface="Times New Roman" pitchFamily="18" charset="0"/>
                <a:ea typeface="宋体" charset="-122"/>
                <a:cs typeface="Times New Roman" pitchFamily="18" charset="0"/>
              </a:rPr>
              <a:t>Midcentrics</a:t>
            </a:r>
            <a:r>
              <a:rPr lang="en-US" altLang="zh-CN" dirty="0" smtClean="0">
                <a:latin typeface="Times New Roman" pitchFamily="18" charset="0"/>
                <a:ea typeface="宋体" charset="-122"/>
                <a:cs typeface="Times New Roman" pitchFamily="18" charset="0"/>
              </a:rPr>
              <a:t>: ‘average’ tourists whose personality type is a compromise between </a:t>
            </a:r>
            <a:r>
              <a:rPr lang="en-US" altLang="zh-CN" dirty="0" err="1" smtClean="0">
                <a:latin typeface="Times New Roman" pitchFamily="18" charset="0"/>
                <a:ea typeface="宋体" charset="-122"/>
                <a:cs typeface="Times New Roman" pitchFamily="18" charset="0"/>
              </a:rPr>
              <a:t>allocentric</a:t>
            </a:r>
            <a:r>
              <a:rPr lang="en-US" altLang="zh-CN" dirty="0" smtClean="0">
                <a:latin typeface="Times New Roman" pitchFamily="18" charset="0"/>
                <a:ea typeface="宋体" charset="-122"/>
                <a:cs typeface="Times New Roman" pitchFamily="18" charset="0"/>
              </a:rPr>
              <a:t> and </a:t>
            </a:r>
            <a:r>
              <a:rPr lang="en-US" altLang="zh-CN" dirty="0" err="1" smtClean="0">
                <a:latin typeface="Times New Roman" pitchFamily="18" charset="0"/>
                <a:ea typeface="宋体" charset="-122"/>
                <a:cs typeface="Times New Roman" pitchFamily="18" charset="0"/>
              </a:rPr>
              <a:t>psychocentric</a:t>
            </a:r>
            <a:r>
              <a:rPr lang="en-US" altLang="zh-CN" dirty="0" smtClean="0">
                <a:latin typeface="Times New Roman" pitchFamily="18" charset="0"/>
                <a:ea typeface="宋体" charset="-122"/>
                <a:cs typeface="Times New Roman" pitchFamily="18" charset="0"/>
              </a:rPr>
              <a:t> traits</a:t>
            </a:r>
          </a:p>
          <a:p>
            <a:pPr eaLnBrk="1" hangingPunct="1">
              <a:defRPr/>
            </a:pPr>
            <a:r>
              <a:rPr lang="en-US" altLang="zh-CN" dirty="0" smtClean="0">
                <a:latin typeface="Times New Roman" pitchFamily="18" charset="0"/>
                <a:ea typeface="宋体" charset="-122"/>
                <a:cs typeface="Times New Roman" pitchFamily="18" charset="0"/>
              </a:rPr>
              <a:t>In sum, </a:t>
            </a:r>
            <a:r>
              <a:rPr lang="en-US" altLang="zh-CN" dirty="0" err="1" smtClean="0">
                <a:latin typeface="Times New Roman" pitchFamily="18" charset="0"/>
                <a:ea typeface="宋体" charset="-122"/>
                <a:cs typeface="Times New Roman" pitchFamily="18" charset="0"/>
              </a:rPr>
              <a:t>Plog’s</a:t>
            </a:r>
            <a:r>
              <a:rPr lang="en-US" altLang="zh-CN" dirty="0" smtClean="0">
                <a:latin typeface="Times New Roman" pitchFamily="18" charset="0"/>
                <a:ea typeface="宋体" charset="-122"/>
                <a:cs typeface="Times New Roman" pitchFamily="18" charset="0"/>
              </a:rPr>
              <a:t> model is best utilized as a useful indicator of personality dimensions, but not as a definitive predictor of personality distribution or tourist behavior</a:t>
            </a:r>
            <a:endParaRPr lang="ga-IE" altLang="zh-CN" dirty="0" smtClean="0">
              <a:latin typeface="Times New Roman" pitchFamily="18" charset="0"/>
              <a:ea typeface="宋体" charset="-122"/>
              <a:cs typeface="Times New Roman" pitchFamily="18" charset="0"/>
            </a:endParaRPr>
          </a:p>
          <a:p>
            <a:pPr eaLnBrk="1" hangingPunct="1">
              <a:defRPr/>
            </a:pPr>
            <a:r>
              <a:rPr lang="ga-IE" altLang="zh-CN" dirty="0" smtClean="0">
                <a:latin typeface="Times New Roman" pitchFamily="18" charset="0"/>
                <a:ea typeface="宋体" charset="-122"/>
                <a:cs typeface="Times New Roman" pitchFamily="18" charset="0"/>
              </a:rPr>
              <a:t>Example: Miami Beach, Florida, Hawaii</a:t>
            </a:r>
            <a:endParaRPr lang="en-GB"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rrowheads="1"/>
          </p:cNvSpPr>
          <p:nvPr>
            <p:ph type="title"/>
          </p:nvPr>
        </p:nvSpPr>
        <p:spPr/>
        <p:txBody>
          <a:bodyPr>
            <a:normAutofit fontScale="90000"/>
          </a:bodyPr>
          <a:lstStyle/>
          <a:p>
            <a:pPr algn="ctr" eaLnBrk="1" hangingPunct="1">
              <a:defRPr/>
            </a:pPr>
            <a:r>
              <a:rPr lang="ga-IE" dirty="0" smtClean="0">
                <a:latin typeface="Times New Roman" pitchFamily="18" charset="0"/>
                <a:cs typeface="Times New Roman" pitchFamily="18" charset="0"/>
              </a:rPr>
              <a:t>Cohen’s Model (1972)</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Erik Cohen</a:t>
            </a:r>
            <a:endParaRPr lang="en-GB" dirty="0" smtClean="0">
              <a:latin typeface="Times New Roman" pitchFamily="18" charset="0"/>
              <a:cs typeface="Times New Roman" pitchFamily="18" charset="0"/>
            </a:endParaRPr>
          </a:p>
        </p:txBody>
      </p:sp>
      <p:sp>
        <p:nvSpPr>
          <p:cNvPr id="37891" name="Rectangle 3"/>
          <p:cNvSpPr>
            <a:spLocks noGrp="1" noChangeArrowheads="1"/>
          </p:cNvSpPr>
          <p:nvPr>
            <p:ph idx="1"/>
          </p:nvPr>
        </p:nvSpPr>
        <p:spPr/>
        <p:txBody>
          <a:bodyPr>
            <a:normAutofit lnSpcReduction="10000"/>
          </a:bodyPr>
          <a:lstStyle/>
          <a:p>
            <a:pPr eaLnBrk="1" hangingPunct="1"/>
            <a:r>
              <a:rPr lang="en-GB" sz="2800" dirty="0" smtClean="0">
                <a:effectLst/>
                <a:latin typeface="Times New Roman" pitchFamily="18" charset="0"/>
                <a:cs typeface="Times New Roman" pitchFamily="18" charset="0"/>
              </a:rPr>
              <a:t>The organised mass tourist</a:t>
            </a:r>
          </a:p>
          <a:p>
            <a:pPr eaLnBrk="1" hangingPunct="1"/>
            <a:endParaRPr lang="en-GB" sz="2800" dirty="0" smtClean="0">
              <a:effectLst/>
              <a:latin typeface="Times New Roman" pitchFamily="18" charset="0"/>
              <a:cs typeface="Times New Roman" pitchFamily="18" charset="0"/>
            </a:endParaRPr>
          </a:p>
          <a:p>
            <a:pPr eaLnBrk="1" hangingPunct="1"/>
            <a:r>
              <a:rPr lang="en-GB" sz="2800" dirty="0" smtClean="0">
                <a:effectLst/>
                <a:latin typeface="Times New Roman" pitchFamily="18" charset="0"/>
                <a:cs typeface="Times New Roman" pitchFamily="18" charset="0"/>
              </a:rPr>
              <a:t>These are the least adventurous tourists, who on buying their package holiday remain encapsulated in an ‘environmental bubble’, divorced from the host community as they remain in the hotel complex. They adhere to an itinerary fixed by the tour operators, and even their trips out of the complex are organised tours. They make few decisions about their holiday.</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Cohen’s</a:t>
            </a:r>
            <a:r>
              <a:rPr lang="ga-IE" dirty="0" smtClean="0"/>
              <a:t> Model (1972)</a:t>
            </a:r>
            <a:endParaRPr lang="en-GB" dirty="0" smtClean="0"/>
          </a:p>
        </p:txBody>
      </p:sp>
      <p:sp>
        <p:nvSpPr>
          <p:cNvPr id="56323" name="Rectangle 3"/>
          <p:cNvSpPr>
            <a:spLocks noGrp="1" noChangeArrowheads="1"/>
          </p:cNvSpPr>
          <p:nvPr>
            <p:ph idx="1"/>
          </p:nvPr>
        </p:nvSpPr>
        <p:spPr/>
        <p:txBody>
          <a:bodyPr>
            <a:normAutofit/>
          </a:bodyPr>
          <a:lstStyle/>
          <a:p>
            <a:pPr eaLnBrk="1" hangingPunct="1">
              <a:lnSpc>
                <a:spcPct val="90000"/>
              </a:lnSpc>
              <a:buNone/>
              <a:defRPr/>
            </a:pPr>
            <a:r>
              <a:rPr lang="en-GB" sz="3200" u="sng" dirty="0" smtClean="0">
                <a:effectLst/>
                <a:latin typeface="Times New Roman" pitchFamily="18" charset="0"/>
                <a:cs typeface="Times New Roman" pitchFamily="18" charset="0"/>
              </a:rPr>
              <a:t>The explorer</a:t>
            </a:r>
          </a:p>
          <a:p>
            <a:pPr eaLnBrk="1" hangingPunct="1">
              <a:lnSpc>
                <a:spcPct val="90000"/>
              </a:lnSpc>
              <a:defRPr/>
            </a:pPr>
            <a:endParaRPr lang="en-GB" sz="2800" dirty="0" smtClean="0">
              <a:effectLst/>
            </a:endParaRPr>
          </a:p>
          <a:p>
            <a:pPr eaLnBrk="1" hangingPunct="1">
              <a:lnSpc>
                <a:spcPct val="90000"/>
              </a:lnSpc>
              <a:defRPr/>
            </a:pPr>
            <a:r>
              <a:rPr lang="en-GB" sz="2800" dirty="0" smtClean="0">
                <a:effectLst/>
                <a:latin typeface="Times New Roman" pitchFamily="18" charset="0"/>
                <a:cs typeface="Times New Roman" pitchFamily="18" charset="0"/>
              </a:rPr>
              <a:t>The explorers arrange their own trip alone, and attempt to get off the beaten track. Yet they will still have recourse to comfortable tourist accommodation. However, much of their travel will be prompted by a motivation to associate with the people, and they will often speak the language of the host community. Nonetheless, the explorers retain many of the basic routines of their own life style.</a:t>
            </a:r>
            <a:endParaRPr lang="en-GB" sz="2800" i="1" dirty="0" smtClean="0">
              <a:effectLst/>
              <a:latin typeface="Times New Roman" pitchFamily="18" charset="0"/>
              <a:cs typeface="Times New Roman" pitchFamily="18" charset="0"/>
            </a:endParaRPr>
          </a:p>
          <a:p>
            <a:pPr eaLnBrk="1" hangingPunct="1">
              <a:lnSpc>
                <a:spcPct val="90000"/>
              </a:lnSpc>
              <a:defRPr/>
            </a:pPr>
            <a:endParaRPr lang="en-GB" sz="2800" dirty="0" smtClean="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Cohen’s Model (1972)</a:t>
            </a:r>
            <a:endParaRPr lang="en-GB" dirty="0" smtClean="0">
              <a:latin typeface="Times New Roman" pitchFamily="18" charset="0"/>
              <a:cs typeface="Times New Roman" pitchFamily="18" charset="0"/>
            </a:endParaRPr>
          </a:p>
        </p:txBody>
      </p:sp>
      <p:sp>
        <p:nvSpPr>
          <p:cNvPr id="58371" name="Rectangle 3"/>
          <p:cNvSpPr>
            <a:spLocks noGrp="1" noChangeArrowheads="1"/>
          </p:cNvSpPr>
          <p:nvPr>
            <p:ph idx="1"/>
          </p:nvPr>
        </p:nvSpPr>
        <p:spPr>
          <a:xfrm>
            <a:off x="457200" y="1609416"/>
            <a:ext cx="7239000" cy="4410384"/>
          </a:xfrm>
        </p:spPr>
        <p:txBody>
          <a:bodyPr>
            <a:normAutofit lnSpcReduction="10000"/>
          </a:bodyPr>
          <a:lstStyle/>
          <a:p>
            <a:pPr eaLnBrk="1" hangingPunct="1">
              <a:lnSpc>
                <a:spcPct val="90000"/>
              </a:lnSpc>
              <a:defRPr/>
            </a:pPr>
            <a:endParaRPr lang="en-GB" sz="2800" u="sng" dirty="0" smtClean="0">
              <a:effectLst/>
              <a:latin typeface="Times New Roman" pitchFamily="18" charset="0"/>
              <a:cs typeface="Times New Roman" pitchFamily="18" charset="0"/>
            </a:endParaRPr>
          </a:p>
          <a:p>
            <a:pPr eaLnBrk="1" hangingPunct="1">
              <a:lnSpc>
                <a:spcPct val="90000"/>
              </a:lnSpc>
              <a:buNone/>
              <a:defRPr/>
            </a:pPr>
            <a:r>
              <a:rPr lang="en-GB" sz="2800" u="sng" dirty="0" smtClean="0">
                <a:effectLst/>
                <a:latin typeface="Times New Roman" pitchFamily="18" charset="0"/>
                <a:cs typeface="Times New Roman" pitchFamily="18" charset="0"/>
              </a:rPr>
              <a:t>The drifter</a:t>
            </a:r>
          </a:p>
          <a:p>
            <a:pPr eaLnBrk="1" hangingPunct="1">
              <a:lnSpc>
                <a:spcPct val="90000"/>
              </a:lnSpc>
              <a:defRPr/>
            </a:pPr>
            <a:endParaRPr lang="en-GB" sz="2800" dirty="0" smtClean="0">
              <a:effectLst/>
            </a:endParaRPr>
          </a:p>
          <a:p>
            <a:pPr eaLnBrk="1" hangingPunct="1">
              <a:lnSpc>
                <a:spcPct val="90000"/>
              </a:lnSpc>
              <a:defRPr/>
            </a:pPr>
            <a:r>
              <a:rPr lang="en-GB" sz="2800" dirty="0" smtClean="0">
                <a:effectLst/>
                <a:latin typeface="Times New Roman" pitchFamily="18" charset="0"/>
                <a:cs typeface="Times New Roman" pitchFamily="18" charset="0"/>
              </a:rPr>
              <a:t>The drifters will shun contact with the tourist and tourist establishment, and identify with the host community. They will live with the locals and adopt many of the practices of that community. Income is generated by working within the community, but often through low-skilled work, which creates a tendency to mix with the lower socio-economic groups.</a:t>
            </a:r>
          </a:p>
          <a:p>
            <a:pPr eaLnBrk="1" hangingPunct="1">
              <a:lnSpc>
                <a:spcPct val="90000"/>
              </a:lnSpc>
              <a:defRPr/>
            </a:pPr>
            <a:endParaRPr lang="en-GB" sz="28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rrowheads="1"/>
          </p:cNvSpPr>
          <p:nvPr>
            <p:ph type="title"/>
          </p:nvPr>
        </p:nvSpPr>
        <p:spPr/>
        <p:txBody>
          <a:bodyPr/>
          <a:lstStyle/>
          <a:p>
            <a:pPr eaLnBrk="1" hangingPunct="1">
              <a:defRPr/>
            </a:pPr>
            <a:r>
              <a:rPr lang="ga-IE" smtClean="0"/>
              <a:t>Cohen’s Model (1972)</a:t>
            </a:r>
            <a:endParaRPr lang="en-GB" smtClean="0"/>
          </a:p>
        </p:txBody>
      </p:sp>
      <p:sp>
        <p:nvSpPr>
          <p:cNvPr id="60419" name="Rectangle 3"/>
          <p:cNvSpPr>
            <a:spLocks noGrp="1" noChangeArrowheads="1"/>
          </p:cNvSpPr>
          <p:nvPr>
            <p:ph idx="1"/>
          </p:nvPr>
        </p:nvSpPr>
        <p:spPr/>
        <p:txBody>
          <a:bodyPr>
            <a:normAutofit lnSpcReduction="10000"/>
          </a:bodyPr>
          <a:lstStyle/>
          <a:p>
            <a:pPr eaLnBrk="1" hangingPunct="1">
              <a:lnSpc>
                <a:spcPct val="90000"/>
              </a:lnSpc>
              <a:defRPr/>
            </a:pPr>
            <a:endParaRPr lang="en-GB" sz="2800" i="1" smtClean="0">
              <a:effectLst/>
            </a:endParaRPr>
          </a:p>
          <a:p>
            <a:pPr eaLnBrk="1" hangingPunct="1">
              <a:lnSpc>
                <a:spcPct val="90000"/>
              </a:lnSpc>
              <a:defRPr/>
            </a:pPr>
            <a:r>
              <a:rPr lang="en-GB" sz="2800" i="1" smtClean="0">
                <a:effectLst/>
              </a:rPr>
              <a:t>The individual mass tourist</a:t>
            </a:r>
          </a:p>
          <a:p>
            <a:pPr eaLnBrk="1" hangingPunct="1">
              <a:lnSpc>
                <a:spcPct val="90000"/>
              </a:lnSpc>
              <a:defRPr/>
            </a:pPr>
            <a:endParaRPr lang="en-GB" sz="2800" smtClean="0">
              <a:effectLst/>
            </a:endParaRPr>
          </a:p>
          <a:p>
            <a:pPr eaLnBrk="1" hangingPunct="1">
              <a:lnSpc>
                <a:spcPct val="90000"/>
              </a:lnSpc>
              <a:defRPr/>
            </a:pPr>
            <a:r>
              <a:rPr lang="en-GB" sz="2800" smtClean="0">
                <a:effectLst/>
              </a:rPr>
              <a:t>They are similar to the organised mass tourist in that they utilise the facilities made available by the tour operator, but they have some control over their own itinerary. They may use the hotel as a base and hire a car for their own trips. However, many will tend to visit the same places as the mass organised tourist in that they will visit the ‘sights’.</a:t>
            </a:r>
          </a:p>
          <a:p>
            <a:pPr eaLnBrk="1" hangingPunct="1">
              <a:lnSpc>
                <a:spcPct val="90000"/>
              </a:lnSpc>
              <a:defRPr/>
            </a:pPr>
            <a:endParaRPr lang="en-GB" sz="280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Push and Pull Model</a:t>
            </a:r>
            <a:endParaRPr lang="en-GB" dirty="0" smtClean="0">
              <a:latin typeface="Times New Roman" pitchFamily="18" charset="0"/>
              <a:cs typeface="Times New Roman" pitchFamily="18" charset="0"/>
            </a:endParaRPr>
          </a:p>
        </p:txBody>
      </p:sp>
      <p:sp>
        <p:nvSpPr>
          <p:cNvPr id="62467" name="Rectangle 3"/>
          <p:cNvSpPr>
            <a:spLocks noGrp="1" noChangeArrowheads="1"/>
          </p:cNvSpPr>
          <p:nvPr>
            <p:ph idx="1"/>
          </p:nvPr>
        </p:nvSpPr>
        <p:spPr>
          <a:xfrm>
            <a:off x="457200" y="2209800"/>
            <a:ext cx="7239000" cy="4245936"/>
          </a:xfrm>
        </p:spPr>
        <p:txBody>
          <a:bodyPr/>
          <a:lstStyle/>
          <a:p>
            <a:pPr eaLnBrk="1" hangingPunct="1">
              <a:defRPr/>
            </a:pPr>
            <a:r>
              <a:rPr lang="ga-IE" dirty="0" smtClean="0">
                <a:latin typeface="Times New Roman" pitchFamily="18" charset="0"/>
                <a:cs typeface="Times New Roman" pitchFamily="18" charset="0"/>
              </a:rPr>
              <a:t>An </a:t>
            </a:r>
            <a:r>
              <a:rPr lang="en-US" dirty="0" smtClean="0">
                <a:latin typeface="Times New Roman" pitchFamily="18" charset="0"/>
                <a:cs typeface="Times New Roman" pitchFamily="18" charset="0"/>
              </a:rPr>
              <a:t>interesting</a:t>
            </a:r>
            <a:r>
              <a:rPr lang="ga-IE" dirty="0" smtClean="0">
                <a:latin typeface="Times New Roman" pitchFamily="18" charset="0"/>
                <a:cs typeface="Times New Roman" pitchFamily="18" charset="0"/>
              </a:rPr>
              <a:t> way of modelling travel motivations is to divide them into factors that are called </a:t>
            </a:r>
            <a:r>
              <a:rPr lang="ga-IE" sz="4800" b="1" u="sng" dirty="0" smtClean="0">
                <a:latin typeface="Times New Roman" pitchFamily="18" charset="0"/>
                <a:cs typeface="Times New Roman" pitchFamily="18" charset="0"/>
              </a:rPr>
              <a:t>pull</a:t>
            </a:r>
            <a:r>
              <a:rPr lang="ga-IE" dirty="0" smtClean="0">
                <a:latin typeface="Times New Roman" pitchFamily="18" charset="0"/>
                <a:cs typeface="Times New Roman" pitchFamily="18" charset="0"/>
              </a:rPr>
              <a:t> and </a:t>
            </a:r>
            <a:r>
              <a:rPr lang="ga-IE" sz="4800" b="1" u="sng" dirty="0" smtClean="0">
                <a:latin typeface="Times New Roman" pitchFamily="18" charset="0"/>
                <a:cs typeface="Times New Roman" pitchFamily="18" charset="0"/>
              </a:rPr>
              <a:t>push</a:t>
            </a:r>
            <a:endParaRPr lang="en-US" sz="4800" b="1" u="sng" dirty="0" smtClean="0">
              <a:latin typeface="Times New Roman" pitchFamily="18" charset="0"/>
              <a:cs typeface="Times New Roman" pitchFamily="18" charset="0"/>
            </a:endParaRPr>
          </a:p>
          <a:p>
            <a:pPr eaLnBrk="1" hangingPunct="1">
              <a:defRPr/>
            </a:pPr>
            <a:endParaRPr lang="ga-IE" sz="4800" b="1" u="sng" dirty="0" smtClean="0">
              <a:latin typeface="Times New Roman" pitchFamily="18" charset="0"/>
              <a:cs typeface="Times New Roman" pitchFamily="18" charset="0"/>
            </a:endParaRPr>
          </a:p>
          <a:p>
            <a:pPr eaLnBrk="1" hangingPunct="1">
              <a:defRPr/>
            </a:pPr>
            <a:r>
              <a:rPr lang="ga-IE" dirty="0" smtClean="0">
                <a:latin typeface="Times New Roman" pitchFamily="18" charset="0"/>
                <a:cs typeface="Times New Roman" pitchFamily="18" charset="0"/>
              </a:rPr>
              <a:t>Developed by Arlin Epperson (travel consultant)</a:t>
            </a:r>
          </a:p>
          <a:p>
            <a:pPr eaLnBrk="1" hangingPunct="1">
              <a:defRPr/>
            </a:pPr>
            <a:endParaRPr lang="en-GB" dirty="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Pull Factors</a:t>
            </a:r>
            <a:endParaRPr lang="en-GB" dirty="0" smtClean="0">
              <a:latin typeface="Times New Roman" pitchFamily="18" charset="0"/>
              <a:cs typeface="Times New Roman" pitchFamily="18" charset="0"/>
            </a:endParaRPr>
          </a:p>
        </p:txBody>
      </p:sp>
      <p:sp>
        <p:nvSpPr>
          <p:cNvPr id="70659" name="Rectangle 3"/>
          <p:cNvSpPr>
            <a:spLocks noGrp="1" noChangeArrowheads="1"/>
          </p:cNvSpPr>
          <p:nvPr>
            <p:ph idx="1"/>
          </p:nvPr>
        </p:nvSpPr>
        <p:spPr/>
        <p:txBody>
          <a:bodyPr/>
          <a:lstStyle/>
          <a:p>
            <a:pPr eaLnBrk="1" hangingPunct="1">
              <a:defRPr/>
            </a:pPr>
            <a:r>
              <a:rPr lang="ga-IE" dirty="0" smtClean="0">
                <a:latin typeface="Times New Roman" pitchFamily="18" charset="0"/>
                <a:cs typeface="Times New Roman" pitchFamily="18" charset="0"/>
              </a:rPr>
              <a:t>Pull factors are in</a:t>
            </a:r>
            <a:r>
              <a:rPr lang="en-US" dirty="0" smtClean="0">
                <a:latin typeface="Times New Roman" pitchFamily="18" charset="0"/>
                <a:cs typeface="Times New Roman" pitchFamily="18" charset="0"/>
              </a:rPr>
              <a:t> </a:t>
            </a:r>
            <a:r>
              <a:rPr lang="ga-IE" dirty="0" smtClean="0">
                <a:latin typeface="Times New Roman" pitchFamily="18" charset="0"/>
                <a:cs typeface="Times New Roman" pitchFamily="18" charset="0"/>
              </a:rPr>
              <a:t>terms of the attractions.</a:t>
            </a:r>
          </a:p>
          <a:p>
            <a:pPr eaLnBrk="1" hangingPunct="1">
              <a:defRPr/>
            </a:pPr>
            <a:r>
              <a:rPr lang="ga-IE" dirty="0" smtClean="0">
                <a:latin typeface="Times New Roman" pitchFamily="18" charset="0"/>
                <a:cs typeface="Times New Roman" pitchFamily="18" charset="0"/>
              </a:rPr>
              <a:t>People are pulled to make a decison based on the attraction type</a:t>
            </a:r>
            <a:endParaRPr lang="en-GB" dirty="0" smtClean="0">
              <a:latin typeface="Times New Roman" pitchFamily="18" charset="0"/>
              <a:cs typeface="Times New Roman" pitchFamily="18" charset="0"/>
            </a:endParaRPr>
          </a:p>
        </p:txBody>
      </p:sp>
      <p:pic>
        <p:nvPicPr>
          <p:cNvPr id="43012" name="Picture 4"/>
          <p:cNvPicPr>
            <a:picLocks noChangeAspect="1" noChangeArrowheads="1"/>
          </p:cNvPicPr>
          <p:nvPr/>
        </p:nvPicPr>
        <p:blipFill>
          <a:blip r:embed="rId3" cstate="print"/>
          <a:srcRect/>
          <a:stretch>
            <a:fillRect/>
          </a:stretch>
        </p:blipFill>
        <p:spPr bwMode="auto">
          <a:xfrm>
            <a:off x="1143000" y="3395663"/>
            <a:ext cx="6019800" cy="30813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Push factors</a:t>
            </a:r>
            <a:endParaRPr lang="en-GB" dirty="0" smtClean="0">
              <a:latin typeface="Times New Roman" pitchFamily="18" charset="0"/>
              <a:cs typeface="Times New Roman" pitchFamily="18" charset="0"/>
            </a:endParaRPr>
          </a:p>
        </p:txBody>
      </p:sp>
      <p:sp>
        <p:nvSpPr>
          <p:cNvPr id="72707" name="Rectangle 3"/>
          <p:cNvSpPr>
            <a:spLocks noGrp="1" noChangeArrowheads="1"/>
          </p:cNvSpPr>
          <p:nvPr>
            <p:ph idx="1"/>
          </p:nvPr>
        </p:nvSpPr>
        <p:spPr>
          <a:xfrm>
            <a:off x="457200" y="1828800"/>
            <a:ext cx="7239000" cy="4626936"/>
          </a:xfrm>
        </p:spPr>
        <p:txBody>
          <a:bodyPr/>
          <a:lstStyle/>
          <a:p>
            <a:pPr eaLnBrk="1" hangingPunct="1">
              <a:defRPr/>
            </a:pPr>
            <a:r>
              <a:rPr lang="ga-IE" dirty="0" smtClean="0">
                <a:latin typeface="Times New Roman" pitchFamily="18" charset="0"/>
                <a:cs typeface="Times New Roman" pitchFamily="18" charset="0"/>
              </a:rPr>
              <a:t>They are based on personal feelings </a:t>
            </a:r>
          </a:p>
          <a:p>
            <a:pPr eaLnBrk="1" hangingPunct="1">
              <a:defRPr/>
            </a:pPr>
            <a:r>
              <a:rPr lang="ga-IE" dirty="0" smtClean="0">
                <a:latin typeface="Times New Roman" pitchFamily="18" charset="0"/>
                <a:cs typeface="Times New Roman" pitchFamily="18" charset="0"/>
              </a:rPr>
              <a:t>For example a vacation at a caribbean Island to relax is a PUSH factor.</a:t>
            </a:r>
            <a:endParaRPr lang="en-US" dirty="0" smtClean="0">
              <a:latin typeface="Times New Roman" pitchFamily="18" charset="0"/>
              <a:cs typeface="Times New Roman" pitchFamily="18" charset="0"/>
            </a:endParaRPr>
          </a:p>
          <a:p>
            <a:pPr eaLnBrk="1" hangingPunct="1">
              <a:defRPr/>
            </a:pPr>
            <a:endParaRPr lang="en-GB" dirty="0" smtClean="0">
              <a:latin typeface="Times New Roman" pitchFamily="18" charset="0"/>
              <a:cs typeface="Times New Roman" pitchFamily="18" charset="0"/>
            </a:endParaRPr>
          </a:p>
        </p:txBody>
      </p:sp>
      <p:pic>
        <p:nvPicPr>
          <p:cNvPr id="44036" name="Picture 4"/>
          <p:cNvPicPr>
            <a:picLocks noChangeAspect="1" noChangeArrowheads="1"/>
          </p:cNvPicPr>
          <p:nvPr/>
        </p:nvPicPr>
        <p:blipFill>
          <a:blip r:embed="rId3" cstate="print"/>
          <a:srcRect/>
          <a:stretch>
            <a:fillRect/>
          </a:stretch>
        </p:blipFill>
        <p:spPr bwMode="auto">
          <a:xfrm>
            <a:off x="1295400" y="3352800"/>
            <a:ext cx="5867400" cy="3143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rrowheads="1"/>
          </p:cNvSpPr>
          <p:nvPr>
            <p:ph type="title"/>
          </p:nvPr>
        </p:nvSpPr>
        <p:spPr>
          <a:xfrm>
            <a:off x="457200" y="320040"/>
            <a:ext cx="7239000" cy="822960"/>
          </a:xfrm>
        </p:spPr>
        <p:txBody>
          <a:bodyPr/>
          <a:lstStyle/>
          <a:p>
            <a:pPr algn="ctr" eaLnBrk="1" hangingPunct="1">
              <a:defRPr/>
            </a:pPr>
            <a:r>
              <a:rPr lang="ga-IE" dirty="0" smtClean="0">
                <a:latin typeface="Times New Roman" pitchFamily="18" charset="0"/>
                <a:cs typeface="Times New Roman" pitchFamily="18" charset="0"/>
              </a:rPr>
              <a:t>Business Travel</a:t>
            </a:r>
            <a:endParaRPr lang="en-GB" dirty="0" smtClean="0">
              <a:latin typeface="Times New Roman" pitchFamily="18" charset="0"/>
              <a:cs typeface="Times New Roman" pitchFamily="18" charset="0"/>
            </a:endParaRPr>
          </a:p>
        </p:txBody>
      </p:sp>
      <p:sp>
        <p:nvSpPr>
          <p:cNvPr id="74755" name="Rectangle 3"/>
          <p:cNvSpPr>
            <a:spLocks noGrp="1" noChangeArrowheads="1"/>
          </p:cNvSpPr>
          <p:nvPr>
            <p:ph idx="1"/>
          </p:nvPr>
        </p:nvSpPr>
        <p:spPr>
          <a:xfrm>
            <a:off x="381000" y="1676400"/>
            <a:ext cx="8229600" cy="4297363"/>
          </a:xfrm>
        </p:spPr>
        <p:txBody>
          <a:bodyPr>
            <a:normAutofit/>
          </a:bodyPr>
          <a:lstStyle/>
          <a:p>
            <a:pPr eaLnBrk="1" hangingPunct="1">
              <a:defRPr/>
            </a:pPr>
            <a:r>
              <a:rPr lang="ga-IE" sz="2800" dirty="0" smtClean="0">
                <a:latin typeface="Times New Roman" pitchFamily="18" charset="0"/>
                <a:cs typeface="Times New Roman" pitchFamily="18" charset="0"/>
              </a:rPr>
              <a:t>An airline study shows that the business- Leisure mix varies widely according to desination</a:t>
            </a:r>
          </a:p>
          <a:p>
            <a:pPr eaLnBrk="1" hangingPunct="1">
              <a:defRPr/>
            </a:pPr>
            <a:r>
              <a:rPr lang="ga-IE" sz="2800" dirty="0" smtClean="0">
                <a:latin typeface="Times New Roman" pitchFamily="18" charset="0"/>
                <a:cs typeface="Times New Roman" pitchFamily="18" charset="0"/>
              </a:rPr>
              <a:t>Good portion of business travel mixes with leisure.</a:t>
            </a:r>
          </a:p>
          <a:p>
            <a:pPr eaLnBrk="1" hangingPunct="1">
              <a:defRPr/>
            </a:pPr>
            <a:r>
              <a:rPr lang="ga-IE" sz="2800" dirty="0" smtClean="0">
                <a:latin typeface="Times New Roman" pitchFamily="18" charset="0"/>
                <a:cs typeface="Times New Roman" pitchFamily="18" charset="0"/>
              </a:rPr>
              <a:t>Business travel accounts for at least half of the travel in the United States and is 156 billion in the industry.</a:t>
            </a:r>
          </a:p>
          <a:p>
            <a:pPr eaLnBrk="1" hangingPunct="1">
              <a:defRPr/>
            </a:pPr>
            <a:r>
              <a:rPr lang="ga-IE" sz="2800" dirty="0" smtClean="0">
                <a:latin typeface="Times New Roman" pitchFamily="18" charset="0"/>
                <a:cs typeface="Times New Roman" pitchFamily="18" charset="0"/>
              </a:rPr>
              <a:t>At least half of the airline industry is undertaken by business travel.</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Business Travelers</a:t>
            </a:r>
            <a:endParaRPr lang="en-GB" dirty="0" smtClean="0">
              <a:latin typeface="Times New Roman" pitchFamily="18" charset="0"/>
              <a:cs typeface="Times New Roman" pitchFamily="18" charset="0"/>
            </a:endParaRPr>
          </a:p>
        </p:txBody>
      </p:sp>
      <p:sp>
        <p:nvSpPr>
          <p:cNvPr id="76803" name="Rectangle 3"/>
          <p:cNvSpPr>
            <a:spLocks noGrp="1" noChangeArrowheads="1"/>
          </p:cNvSpPr>
          <p:nvPr>
            <p:ph idx="1"/>
          </p:nvPr>
        </p:nvSpPr>
        <p:spPr/>
        <p:txBody>
          <a:bodyPr/>
          <a:lstStyle/>
          <a:p>
            <a:pPr eaLnBrk="1" hangingPunct="1">
              <a:defRPr/>
            </a:pPr>
            <a:r>
              <a:rPr lang="ga-IE" dirty="0" smtClean="0">
                <a:latin typeface="Times New Roman" pitchFamily="18" charset="0"/>
                <a:cs typeface="Times New Roman" pitchFamily="18" charset="0"/>
              </a:rPr>
              <a:t>Meetings</a:t>
            </a:r>
          </a:p>
          <a:p>
            <a:pPr eaLnBrk="1" hangingPunct="1">
              <a:defRPr/>
            </a:pPr>
            <a:r>
              <a:rPr lang="ga-IE" dirty="0" smtClean="0">
                <a:latin typeface="Times New Roman" pitchFamily="18" charset="0"/>
                <a:cs typeface="Times New Roman" pitchFamily="18" charset="0"/>
              </a:rPr>
              <a:t>conventions</a:t>
            </a:r>
          </a:p>
          <a:p>
            <a:pPr eaLnBrk="1" hangingPunct="1">
              <a:defRPr/>
            </a:pPr>
            <a:r>
              <a:rPr lang="ga-IE" dirty="0" smtClean="0">
                <a:latin typeface="Times New Roman" pitchFamily="18" charset="0"/>
                <a:cs typeface="Times New Roman" pitchFamily="18" charset="0"/>
              </a:rPr>
              <a:t>Trade shows</a:t>
            </a:r>
          </a:p>
          <a:p>
            <a:pPr eaLnBrk="1" hangingPunct="1">
              <a:defRPr/>
            </a:pPr>
            <a:r>
              <a:rPr lang="ga-IE" dirty="0" smtClean="0">
                <a:latin typeface="Times New Roman" pitchFamily="18" charset="0"/>
                <a:cs typeface="Times New Roman" pitchFamily="18" charset="0"/>
              </a:rPr>
              <a:t>Expositions</a:t>
            </a:r>
            <a:endParaRPr lang="en-US" dirty="0" smtClean="0">
              <a:latin typeface="Times New Roman" pitchFamily="18" charset="0"/>
              <a:cs typeface="Times New Roman" pitchFamily="18" charset="0"/>
            </a:endParaRPr>
          </a:p>
          <a:p>
            <a:pPr eaLnBrk="1" hangingPunct="1">
              <a:defRPr/>
            </a:pPr>
            <a:endParaRPr lang="en-US" dirty="0" smtClean="0">
              <a:latin typeface="Times New Roman" pitchFamily="18" charset="0"/>
              <a:cs typeface="Times New Roman" pitchFamily="18" charset="0"/>
            </a:endParaRPr>
          </a:p>
          <a:p>
            <a:pPr eaLnBrk="1" hangingPunct="1">
              <a:defRPr/>
            </a:pPr>
            <a:r>
              <a:rPr lang="en-US" dirty="0" err="1" smtClean="0">
                <a:latin typeface="Times New Roman" pitchFamily="18" charset="0"/>
                <a:cs typeface="Times New Roman" pitchFamily="18" charset="0"/>
              </a:rPr>
              <a:t>Eg</a:t>
            </a:r>
            <a:r>
              <a:rPr lang="en-US" dirty="0" smtClean="0">
                <a:latin typeface="Times New Roman" pitchFamily="18" charset="0"/>
                <a:cs typeface="Times New Roman" pitchFamily="18" charset="0"/>
              </a:rPr>
              <a:t>. Montego Bay Convention Center</a:t>
            </a:r>
          </a:p>
          <a:p>
            <a:pPr lvl="2" eaLnBrk="1" hangingPunct="1">
              <a:defRPr/>
            </a:pPr>
            <a:r>
              <a:rPr lang="en-US" dirty="0" smtClean="0">
                <a:latin typeface="Times New Roman" pitchFamily="18" charset="0"/>
                <a:cs typeface="Times New Roman" pitchFamily="18" charset="0"/>
              </a:rPr>
              <a:t>Many hotels offer meeting and convention space, especially in Kingston</a:t>
            </a:r>
            <a:endParaRPr lang="ga-IE" dirty="0" smtClean="0">
              <a:latin typeface="Times New Roman" pitchFamily="18" charset="0"/>
              <a:cs typeface="Times New Roman" pitchFamily="18" charset="0"/>
            </a:endParaRPr>
          </a:p>
          <a:p>
            <a:pPr eaLnBrk="1" hangingPunct="1">
              <a:defRPr/>
            </a:pPr>
            <a:endParaRPr lang="en-GB" dirty="0" smtClean="0"/>
          </a:p>
        </p:txBody>
      </p:sp>
      <p:pic>
        <p:nvPicPr>
          <p:cNvPr id="47108" name="Picture 4"/>
          <p:cNvPicPr>
            <a:picLocks noChangeAspect="1" noChangeArrowheads="1"/>
          </p:cNvPicPr>
          <p:nvPr/>
        </p:nvPicPr>
        <p:blipFill>
          <a:blip r:embed="rId3" cstate="print"/>
          <a:srcRect/>
          <a:stretch>
            <a:fillRect/>
          </a:stretch>
        </p:blipFill>
        <p:spPr bwMode="auto">
          <a:xfrm>
            <a:off x="3276600" y="1752600"/>
            <a:ext cx="3886200" cy="157067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rrowheads="1"/>
          </p:cNvSpPr>
          <p:nvPr>
            <p:ph type="title"/>
          </p:nvPr>
        </p:nvSpPr>
        <p:spPr/>
        <p:txBody>
          <a:bodyPr/>
          <a:lstStyle/>
          <a:p>
            <a:pPr algn="ctr" eaLnBrk="1" hangingPunct="1">
              <a:defRPr/>
            </a:pPr>
            <a:r>
              <a:rPr lang="en-GB" dirty="0" smtClean="0">
                <a:latin typeface="Times New Roman" pitchFamily="18" charset="0"/>
                <a:cs typeface="Times New Roman" pitchFamily="18" charset="0"/>
              </a:rPr>
              <a:t>COMPARATIVE ADVANTAGE</a:t>
            </a:r>
          </a:p>
        </p:txBody>
      </p:sp>
      <p:sp>
        <p:nvSpPr>
          <p:cNvPr id="78851" name="Rectangle 3"/>
          <p:cNvSpPr>
            <a:spLocks noGrp="1" noChangeArrowheads="1"/>
          </p:cNvSpPr>
          <p:nvPr>
            <p:ph idx="1"/>
          </p:nvPr>
        </p:nvSpPr>
        <p:spPr>
          <a:xfrm>
            <a:off x="457200" y="1981200"/>
            <a:ext cx="7239000" cy="4474536"/>
          </a:xfrm>
        </p:spPr>
        <p:txBody>
          <a:bodyPr/>
          <a:lstStyle/>
          <a:p>
            <a:pPr eaLnBrk="1" hangingPunct="1">
              <a:defRPr/>
            </a:pPr>
            <a:r>
              <a:rPr lang="en-US" dirty="0" smtClean="0">
                <a:latin typeface="Times New Roman" pitchFamily="18" charset="0"/>
                <a:cs typeface="Times New Roman" pitchFamily="18" charset="0"/>
              </a:rPr>
              <a:t>Business travel w</a:t>
            </a:r>
            <a:r>
              <a:rPr lang="ga-IE" dirty="0" smtClean="0">
                <a:latin typeface="Times New Roman" pitchFamily="18" charset="0"/>
                <a:cs typeface="Times New Roman" pitchFamily="18" charset="0"/>
              </a:rPr>
              <a:t>hen compared to leisure travelers:</a:t>
            </a:r>
          </a:p>
          <a:p>
            <a:pPr eaLnBrk="1" hangingPunct="1">
              <a:defRPr/>
            </a:pPr>
            <a:r>
              <a:rPr lang="ga-IE" dirty="0" smtClean="0">
                <a:latin typeface="Times New Roman" pitchFamily="18" charset="0"/>
                <a:cs typeface="Times New Roman" pitchFamily="18" charset="0"/>
              </a:rPr>
              <a:t>Younger</a:t>
            </a:r>
          </a:p>
          <a:p>
            <a:pPr eaLnBrk="1" hangingPunct="1">
              <a:defRPr/>
            </a:pPr>
            <a:r>
              <a:rPr lang="ga-IE" dirty="0" smtClean="0">
                <a:latin typeface="Times New Roman" pitchFamily="18" charset="0"/>
                <a:cs typeface="Times New Roman" pitchFamily="18" charset="0"/>
              </a:rPr>
              <a:t>Spend more money</a:t>
            </a:r>
          </a:p>
          <a:p>
            <a:pPr eaLnBrk="1" hangingPunct="1">
              <a:defRPr/>
            </a:pPr>
            <a:r>
              <a:rPr lang="ga-IE" dirty="0" smtClean="0">
                <a:latin typeface="Times New Roman" pitchFamily="18" charset="0"/>
                <a:cs typeface="Times New Roman" pitchFamily="18" charset="0"/>
              </a:rPr>
              <a:t>Travel in smaller groups</a:t>
            </a:r>
          </a:p>
          <a:p>
            <a:pPr eaLnBrk="1" hangingPunct="1">
              <a:defRPr/>
            </a:pPr>
            <a:r>
              <a:rPr lang="ga-IE" dirty="0" smtClean="0">
                <a:latin typeface="Times New Roman" pitchFamily="18" charset="0"/>
                <a:cs typeface="Times New Roman" pitchFamily="18" charset="0"/>
              </a:rPr>
              <a:t>Travel further</a:t>
            </a:r>
          </a:p>
          <a:p>
            <a:pPr eaLnBrk="1" hangingPunct="1">
              <a:buFont typeface="Wingdings" pitchFamily="2" charset="2"/>
              <a:buNone/>
              <a:defRPr/>
            </a:pPr>
            <a:endParaRPr lang="en-GB" dirty="0" smtClean="0"/>
          </a:p>
        </p:txBody>
      </p:sp>
      <p:pic>
        <p:nvPicPr>
          <p:cNvPr id="48132" name="Picture 4"/>
          <p:cNvPicPr>
            <a:picLocks noChangeAspect="1" noChangeArrowheads="1"/>
          </p:cNvPicPr>
          <p:nvPr/>
        </p:nvPicPr>
        <p:blipFill>
          <a:blip r:embed="rId3" cstate="print"/>
          <a:srcRect/>
          <a:stretch>
            <a:fillRect/>
          </a:stretch>
        </p:blipFill>
        <p:spPr bwMode="auto">
          <a:xfrm>
            <a:off x="4419600" y="2819400"/>
            <a:ext cx="3419475" cy="3333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rrowheads="1"/>
          </p:cNvSpPr>
          <p:nvPr>
            <p:ph type="title"/>
          </p:nvPr>
        </p:nvSpPr>
        <p:spPr/>
        <p:txBody>
          <a:bodyPr/>
          <a:lstStyle/>
          <a:p>
            <a:pPr algn="ctr" eaLnBrk="1" hangingPunct="1">
              <a:defRPr/>
            </a:pPr>
            <a:r>
              <a:rPr lang="ga-IE" dirty="0" smtClean="0">
                <a:latin typeface="Times New Roman" pitchFamily="18" charset="0"/>
                <a:cs typeface="Times New Roman" pitchFamily="18" charset="0"/>
              </a:rPr>
              <a:t>Business Travel</a:t>
            </a:r>
            <a:endParaRPr lang="en-GB" dirty="0" smtClean="0">
              <a:latin typeface="Times New Roman" pitchFamily="18" charset="0"/>
              <a:cs typeface="Times New Roman" pitchFamily="18" charset="0"/>
            </a:endParaRPr>
          </a:p>
        </p:txBody>
      </p:sp>
      <p:sp>
        <p:nvSpPr>
          <p:cNvPr id="80899" name="Rectangle 3"/>
          <p:cNvSpPr>
            <a:spLocks noGrp="1" noChangeArrowheads="1"/>
          </p:cNvSpPr>
          <p:nvPr>
            <p:ph idx="1"/>
          </p:nvPr>
        </p:nvSpPr>
        <p:spPr/>
        <p:txBody>
          <a:bodyPr/>
          <a:lstStyle/>
          <a:p>
            <a:pPr eaLnBrk="1" hangingPunct="1">
              <a:defRPr/>
            </a:pPr>
            <a:r>
              <a:rPr lang="ga-IE" dirty="0" smtClean="0">
                <a:latin typeface="Times New Roman" pitchFamily="18" charset="0"/>
                <a:cs typeface="Times New Roman" pitchFamily="18" charset="0"/>
              </a:rPr>
              <a:t>Business travel has increased in recent years due to the growth of convention centers in several cities. As a result, business travelers have given a boost to hotels, restaurants, and auto rental companies.</a:t>
            </a:r>
            <a:endParaRPr lang="en-GB" dirty="0" smtClean="0">
              <a:latin typeface="Times New Roman" pitchFamily="18" charset="0"/>
              <a:cs typeface="Times New Roman" pitchFamily="18" charset="0"/>
            </a:endParaRPr>
          </a:p>
        </p:txBody>
      </p:sp>
      <p:pic>
        <p:nvPicPr>
          <p:cNvPr id="49156" name="Picture 4"/>
          <p:cNvPicPr>
            <a:picLocks noChangeAspect="1" noChangeArrowheads="1"/>
          </p:cNvPicPr>
          <p:nvPr/>
        </p:nvPicPr>
        <p:blipFill>
          <a:blip r:embed="rId3" cstate="print"/>
          <a:srcRect/>
          <a:stretch>
            <a:fillRect/>
          </a:stretch>
        </p:blipFill>
        <p:spPr bwMode="auto">
          <a:xfrm>
            <a:off x="2286000" y="3810000"/>
            <a:ext cx="4038600" cy="2019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a:t>
            </a:r>
            <a:endParaRPr lang="en-US" dirty="0"/>
          </a:p>
        </p:txBody>
      </p:sp>
      <p:sp>
        <p:nvSpPr>
          <p:cNvPr id="3" name="Content Placeholder 2"/>
          <p:cNvSpPr>
            <a:spLocks noGrp="1"/>
          </p:cNvSpPr>
          <p:nvPr>
            <p:ph idx="1"/>
          </p:nvPr>
        </p:nvSpPr>
        <p:spPr/>
        <p:txBody>
          <a:bodyPr/>
          <a:lstStyle/>
          <a:p>
            <a:r>
              <a:rPr lang="en-US" dirty="0" smtClean="0"/>
              <a:t>Cohen, Eric. (1974). A Conceptual Phenomenology of </a:t>
            </a:r>
            <a:r>
              <a:rPr lang="en-US" dirty="0" smtClean="0"/>
              <a:t>T</a:t>
            </a:r>
            <a:r>
              <a:rPr lang="en-US" dirty="0" smtClean="0"/>
              <a:t>ourists Experience</a:t>
            </a:r>
          </a:p>
          <a:p>
            <a:r>
              <a:rPr lang="en-US" dirty="0" smtClean="0"/>
              <a:t>M</a:t>
            </a:r>
            <a:r>
              <a:rPr lang="en-US" dirty="0" smtClean="0"/>
              <a:t>aslow, H</a:t>
            </a:r>
            <a:r>
              <a:rPr lang="en-US" sz="2400" dirty="0" smtClean="0"/>
              <a:t>. Abraham. </a:t>
            </a:r>
            <a:r>
              <a:rPr lang="en-US" sz="2400" dirty="0" smtClean="0"/>
              <a:t>(</a:t>
            </a:r>
            <a:r>
              <a:rPr lang="en-US" sz="2400" dirty="0" smtClean="0"/>
              <a:t>1943). A Theory of Human Motivation</a:t>
            </a:r>
          </a:p>
          <a:p>
            <a:r>
              <a:rPr lang="en-US" dirty="0" smtClean="0"/>
              <a:t> </a:t>
            </a:r>
            <a:r>
              <a:rPr lang="ga-IE" dirty="0" smtClean="0">
                <a:latin typeface="Times New Roman" pitchFamily="18" charset="0"/>
                <a:cs typeface="Times New Roman" pitchFamily="18" charset="0"/>
              </a:rPr>
              <a:t>Mc</a:t>
            </a:r>
            <a:r>
              <a:rPr lang="en-US" dirty="0" smtClean="0">
                <a:latin typeface="Times New Roman" pitchFamily="18" charset="0"/>
                <a:cs typeface="Times New Roman" pitchFamily="18" charset="0"/>
              </a:rPr>
              <a:t> </a:t>
            </a:r>
            <a:r>
              <a:rPr lang="ga-IE" dirty="0" smtClean="0">
                <a:latin typeface="Times New Roman" pitchFamily="18" charset="0"/>
                <a:cs typeface="Times New Roman" pitchFamily="18" charset="0"/>
              </a:rPr>
              <a:t>Intosh </a:t>
            </a:r>
            <a:r>
              <a:rPr lang="en-US" dirty="0" smtClean="0">
                <a:latin typeface="Times New Roman" pitchFamily="18" charset="0"/>
                <a:cs typeface="Times New Roman" pitchFamily="18" charset="0"/>
              </a:rPr>
              <a:t>&amp;</a:t>
            </a:r>
            <a:r>
              <a:rPr lang="ga-IE" dirty="0" smtClean="0">
                <a:latin typeface="Times New Roman" pitchFamily="18" charset="0"/>
                <a:cs typeface="Times New Roman" pitchFamily="18" charset="0"/>
              </a:rPr>
              <a:t> Goeldner</a:t>
            </a:r>
            <a:r>
              <a:rPr lang="en-US" dirty="0" smtClean="0">
                <a:latin typeface="Times New Roman" pitchFamily="18" charset="0"/>
                <a:cs typeface="Times New Roman" pitchFamily="18" charset="0"/>
              </a:rPr>
              <a:t>, (1968). Tourism Principles, Practices &amp; Philosophies </a:t>
            </a:r>
          </a:p>
          <a:p>
            <a:r>
              <a:rPr lang="en-US" dirty="0" err="1" smtClean="0">
                <a:latin typeface="Times New Roman" pitchFamily="18" charset="0"/>
                <a:cs typeface="Times New Roman" pitchFamily="18" charset="0"/>
              </a:rPr>
              <a:t>Plog</a:t>
            </a:r>
            <a:r>
              <a:rPr lang="en-US" dirty="0" smtClean="0">
                <a:latin typeface="Times New Roman" pitchFamily="18" charset="0"/>
                <a:cs typeface="Times New Roman" pitchFamily="18" charset="0"/>
              </a:rPr>
              <a:t>, Stanley. (1973). </a:t>
            </a:r>
            <a:r>
              <a:rPr lang="en-US" dirty="0" smtClean="0"/>
              <a:t>Tourism Typology on </a:t>
            </a:r>
            <a:r>
              <a:rPr lang="en-US" dirty="0" err="1" smtClean="0"/>
              <a:t>Prezi</a:t>
            </a:r>
            <a:endParaRPr lang="en-US" dirty="0" smtClean="0"/>
          </a:p>
          <a:p>
            <a:pPr>
              <a:buNone/>
            </a:pPr>
            <a:endParaRPr lang="en-US" dirty="0" smtClean="0">
              <a:latin typeface="Times New Roman" pitchFamily="18" charset="0"/>
              <a:cs typeface="Times New Roman" pitchFamily="18" charset="0"/>
            </a:endParaRP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772</TotalTime>
  <Words>1887</Words>
  <Application>Microsoft Office PowerPoint</Application>
  <PresentationFormat>On-screen Show (4:3)</PresentationFormat>
  <Paragraphs>240</Paragraphs>
  <Slides>46</Slides>
  <Notes>38</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48" baseType="lpstr">
      <vt:lpstr>Opulent</vt:lpstr>
      <vt:lpstr>SmartDraw</vt:lpstr>
      <vt:lpstr>TOURISM PRODUCT, MotivES &amp; TYPOLOGIES </vt:lpstr>
      <vt:lpstr>Objectives</vt:lpstr>
      <vt:lpstr>The Tourism Product</vt:lpstr>
      <vt:lpstr>The Tourism Product</vt:lpstr>
      <vt:lpstr>What is the difference between a good and a service?</vt:lpstr>
      <vt:lpstr>         Understanding Service       </vt:lpstr>
      <vt:lpstr>NATURE OF SERVICE</vt:lpstr>
      <vt:lpstr>Intangibilty</vt:lpstr>
      <vt:lpstr>Intangible Example</vt:lpstr>
      <vt:lpstr>VARIABILITY</vt:lpstr>
      <vt:lpstr>Variability Example</vt:lpstr>
      <vt:lpstr>Inseparability</vt:lpstr>
      <vt:lpstr>Inseparability Example</vt:lpstr>
      <vt:lpstr>Perishability</vt:lpstr>
      <vt:lpstr>Perishability Example</vt:lpstr>
      <vt:lpstr>Motivation </vt:lpstr>
      <vt:lpstr>The Motivation for a Trip</vt:lpstr>
      <vt:lpstr>QUESTION</vt:lpstr>
      <vt:lpstr>Answer</vt:lpstr>
      <vt:lpstr>Answer</vt:lpstr>
      <vt:lpstr>Why People Tavel ( Purpose)</vt:lpstr>
      <vt:lpstr>Why people Travel</vt:lpstr>
      <vt:lpstr>Motivation vs. Purpose of Travel</vt:lpstr>
      <vt:lpstr>Slide 24</vt:lpstr>
      <vt:lpstr>Motivation for Pleasure Travel</vt:lpstr>
      <vt:lpstr>Maslow’s Hierachy of Needs</vt:lpstr>
      <vt:lpstr>McIntosh and Goeldner</vt:lpstr>
      <vt:lpstr>The Increase of Travel</vt:lpstr>
      <vt:lpstr>Plog’s Theory</vt:lpstr>
      <vt:lpstr>Plog’s Theory</vt:lpstr>
      <vt:lpstr>Plog’s Theory</vt:lpstr>
      <vt:lpstr>Plog’s Theory</vt:lpstr>
      <vt:lpstr>Plog’s Theory</vt:lpstr>
      <vt:lpstr>Plog’s Theory</vt:lpstr>
      <vt:lpstr>Cohen’s Model (1972) Erik Cohen</vt:lpstr>
      <vt:lpstr>Cohen’s Model (1972)</vt:lpstr>
      <vt:lpstr>Cohen’s Model (1972)</vt:lpstr>
      <vt:lpstr>Cohen’s Model (1972)</vt:lpstr>
      <vt:lpstr>Push and Pull Model</vt:lpstr>
      <vt:lpstr>Pull Factors</vt:lpstr>
      <vt:lpstr>Push factors</vt:lpstr>
      <vt:lpstr>Business Travel</vt:lpstr>
      <vt:lpstr>Business Travelers</vt:lpstr>
      <vt:lpstr>COMPARATIVE ADVANTAGE</vt:lpstr>
      <vt:lpstr>Business Travel</vt:lpstr>
      <vt:lpstr>Reference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Tourism Definitions, Motivation and Travel ( Part 2)</dc:title>
  <dc:creator>fs</dc:creator>
  <cp:lastModifiedBy>Donya Munroe</cp:lastModifiedBy>
  <cp:revision>41</cp:revision>
  <dcterms:created xsi:type="dcterms:W3CDTF">2011-02-03T08:50:48Z</dcterms:created>
  <dcterms:modified xsi:type="dcterms:W3CDTF">2015-10-31T20:40:56Z</dcterms:modified>
</cp:coreProperties>
</file>